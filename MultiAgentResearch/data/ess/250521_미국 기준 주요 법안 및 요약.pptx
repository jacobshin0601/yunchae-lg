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147376254" r:id="rId2"/>
    <p:sldId id="2147376261" r:id="rId3"/>
    <p:sldId id="2147376243" r:id="rId4"/>
    <p:sldId id="2147376235" r:id="rId5"/>
    <p:sldId id="2147376236" r:id="rId6"/>
    <p:sldId id="2147376240" r:id="rId7"/>
    <p:sldId id="2147376242" r:id="rId8"/>
    <p:sldId id="2147376191" r:id="rId9"/>
    <p:sldId id="2147376192" r:id="rId10"/>
    <p:sldId id="2147376140" r:id="rId11"/>
    <p:sldId id="2147376155" r:id="rId12"/>
    <p:sldId id="2147376079" r:id="rId1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9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06039-92A0-44AC-A486-99A189067E6B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64E52-6A21-4B80-8972-5F42AB720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055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.treasury.gov/news/press-releases/jy2774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.treasury.gov/news/press-releases/jy2774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advancedenergyunited.org/articles/renewable-energy-world-new-illinois-clean-energy-bills-mandate-states-first-storage-procurement-a-vpp-program-and-more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https://pv-magazine-usa.com/2025/03/27/texas-senate-passes-bill-to-expedite-permits-for-home-solar-battery-systems/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https://legiscan.com/TX/bill/SB1202/2025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https://environmentamerica.org/texas/articles/yes-on-sb-1202-more-solar-less-red-tape/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https://pv-magazine-usa.com/2024/01/16/solarapp-speeds-solar-permitting-for-more-than-160-communities/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[</a:t>
            </a:r>
            <a:r>
              <a:rPr lang="ko-KR" altLang="en-US" dirty="0"/>
              <a:t>주 정부</a:t>
            </a:r>
            <a:r>
              <a:rPr lang="en-US" altLang="ko-KR" dirty="0"/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https://legiscan.com/NY/bill/S05781/2025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https://legiscan.com/NY/bill/A06270/2025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https://legiscan.com/NJ/bill/S4100/2024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https://legiscan.com/NJ/bill/A5264/2024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https://legiscan.com/IL/bill/SB2395/2025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https://legiscan.com/IL/bill/HB3265/2025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https://legiscan.com/CO/bill/HB1096/2025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https://legiscan.com/MA/bill/S2269/2025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48FE23-5E5B-435D-9477-6DC4BAD8BA5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4918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https://legiscan.com/CA/bill/AB942/2025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https://www.pv-magazine.com/2025/04/21/california-proposes-break-to-rooftop-solar-contracts-raising-average-bills-63/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https://www.latimes.com/environment/story/2025-04-21/former-edison-executive-calderon-now-a-lawmaker-seeks-to-cut-rooftop-solar-credits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https://www.solarpowerworldonline.com/2025/04/california-assembly-would-force-legacy-solar-into-nem-3/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48FE23-5E5B-435D-9477-6DC4BAD8BA5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4715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48FE23-5E5B-435D-9477-6DC4BAD8BA5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782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48FE23-5E5B-435D-9477-6DC4BAD8BA5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3067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https://dceo.illinois.gov/expandrelocate/incentives/datacenters.html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https://www.law.cornell.edu/regulations/illinois/Ill-Admin-Code-tit-86-SS-130.1957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https://tax.illinois.gov/content/dam/soi/en/web/tax/research/publications/bulletins/documents/2020/fy2020-04-a.pdf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https://dceo.illinois.gov/content/dam/soi/en/web/dceo/aboutdceo/reportsrequiredbystatute/2020-data-center-annual-report.pdf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https://www.ilga.gov/reports/ReportsSubmitted/5069RSGAEmail10796RSGAAttach2023%20Data%20Centers%20Annual%20Report.pdf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48FE23-5E5B-435D-9477-6DC4BAD8BA5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714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https://legiscan.com/OR/bill/HB3546/2025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https://app.newprojectmedia.com/view/intel/67ceacad16d11502d4a61722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48FE23-5E5B-435D-9477-6DC4BAD8BA5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7127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https://a41.asmdc.org/press-releases/20250218-assemblymember-john-harabedian-introduces-legislation-targeting-energy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https://www.cpuc.ca.gov/news-and-updates/all-news/cpuc-sets-new-safety-standards-and-enhances-oversight-of-emergency-plans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https://www.utilitydive.com/news/california-puc-approves-battery-storage-safety-rules/742644/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https://www.bestmag.co.uk/moss-landing-fire-updates-cpuc-votes-for-new-safety-standards-with-more-bess-facility-emergency-plans/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https://legiscan.com/CA/text/SB1383/2021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https://www.coxcastle.com/publication-cpuc-adopts-new-rules-governing-safety-of-battery-energy-storage-systems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https://www.sidley.com/en/insights/newsupdates/2025/03/major-overhaul-of-standards-and-increased-oversight-proposed-for-electric-battery-storage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48FE23-5E5B-435D-9477-6DC4BAD8BA5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9712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https://home.treasury.gov/news/press-releases/jy2774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48FE23-5E5B-435D-9477-6DC4BAD8BA5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155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https://home.treasury.gov/news/press-releases/jy2774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48FE23-5E5B-435D-9477-6DC4BAD8BA5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26333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일리노이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https://www.ess-news.com/2024/10/16/illinois-energy-storage-legislation-calls-for-8-5-gw-of-projects-through-2050/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hlinkClick r:id="rId3"/>
              </a:rPr>
              <a:t>https://blog.advancedenergyunited.org/articles/renewable-energy-world-new-illinois-clean-energy-bills-mandate-states-first-storage-procurement-a-vpp-program-and-more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u="none" strike="noStrike" dirty="0">
                <a:effectLst/>
              </a:rPr>
              <a:t>https://www.solarpowerworldonline.com/2024/09/illinois-democrats-energy-storage-bill/</a:t>
            </a:r>
            <a:endParaRPr lang="en-US" altLang="ko-KR" sz="1200" b="0" i="0" u="none" strike="noStrike" dirty="0">
              <a:solidFill>
                <a:srgbClr val="000000"/>
              </a:solidFill>
              <a:effectLst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0" latinLnBrk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https://www.solarpowersillinois.com/legislation-hb-5856</a:t>
            </a:r>
          </a:p>
          <a:p>
            <a:pPr lvl="0" latinLnBrk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https://blog.advancedenergyunited.org/articles/illinois-grid-modernization-legislation-2024</a:t>
            </a:r>
          </a:p>
          <a:p>
            <a:pPr lvl="0" latinLnBrk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https://www.utilitydive.com/news/energy-storage-illinois-legislation-reliability-study/724457/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48FE23-5E5B-435D-9477-6DC4BAD8BA5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8080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매사추세츠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https://legiscan.com/MA/text/S2967/2023</a:t>
            </a:r>
            <a:endParaRPr lang="en-US" sz="1200" b="0" u="none" kern="1200" dirty="0">
              <a:solidFill>
                <a:srgbClr val="FFFF00"/>
              </a:solidFill>
              <a:effectLst/>
              <a:highlight>
                <a:srgbClr val="FFFF00"/>
              </a:highlight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48FE23-5E5B-435D-9477-6DC4BAD8BA5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458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뉴욕 </a:t>
            </a:r>
            <a:r>
              <a:rPr lang="en-US" altLang="ko-KR" dirty="0"/>
              <a:t>: https://www.nyserda.ny.gov/All-Programs/Energy-Storage-Program</a:t>
            </a:r>
            <a:endParaRPr lang="en-US" dirty="0"/>
          </a:p>
          <a:p>
            <a:r>
              <a:rPr lang="ko-KR" altLang="en-US" dirty="0"/>
              <a:t>로드아일랜드 </a:t>
            </a:r>
            <a:r>
              <a:rPr lang="en-US" altLang="ko-KR" dirty="0"/>
              <a:t>: https://blog.advancedenergyunited.org/articles/topic/press-releases</a:t>
            </a:r>
          </a:p>
          <a:p>
            <a:r>
              <a:rPr lang="ko-KR" altLang="en-US" dirty="0"/>
              <a:t>로드아일랜드 </a:t>
            </a:r>
            <a:r>
              <a:rPr lang="en-US" altLang="ko-KR" dirty="0"/>
              <a:t>HB7811 : https://legiscan.com/RI/text/H7811/2024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48FE23-5E5B-435D-9477-6DC4BAD8BA5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3658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53B0-AE91-4987-B11B-9F71A5342E5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CE59-FFAD-4F16-B782-C1B766165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25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53B0-AE91-4987-B11B-9F71A5342E5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CE59-FFAD-4F16-B782-C1B766165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7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53B0-AE91-4987-B11B-9F71A5342E5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CE59-FFAD-4F16-B782-C1B766165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238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53B0-AE91-4987-B11B-9F71A5342E5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CE59-FFAD-4F16-B782-C1B766165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153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53B0-AE91-4987-B11B-9F71A5342E5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CE59-FFAD-4F16-B782-C1B766165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67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53B0-AE91-4987-B11B-9F71A5342E5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CE59-FFAD-4F16-B782-C1B766165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577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53B0-AE91-4987-B11B-9F71A5342E5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CE59-FFAD-4F16-B782-C1B766165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004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53B0-AE91-4987-B11B-9F71A5342E5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CE59-FFAD-4F16-B782-C1B766165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682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53B0-AE91-4987-B11B-9F71A5342E5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CE59-FFAD-4F16-B782-C1B766165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73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53B0-AE91-4987-B11B-9F71A5342E5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CE59-FFAD-4F16-B782-C1B766165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044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53B0-AE91-4987-B11B-9F71A5342E5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CE59-FFAD-4F16-B782-C1B766165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51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A53B0-AE91-4987-B11B-9F71A5342E5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8CE59-FFAD-4F16-B782-C1B766165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83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A08FFEAF-7B4E-4DB3-A521-40B9C1379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64" y="76723"/>
            <a:ext cx="34211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SzTx/>
              <a:defRPr/>
            </a:pP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’25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정책 동향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BTM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(2/3)</a:t>
            </a:r>
            <a:endParaRPr kumimoji="0" lang="ko-KR" altLang="en-US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04AE614-7BDD-4958-ADE6-2FD71AEC7A32}"/>
              </a:ext>
            </a:extLst>
          </p:cNvPr>
          <p:cNvCxnSpPr>
            <a:cxnSpLocks/>
          </p:cNvCxnSpPr>
          <p:nvPr/>
        </p:nvCxnSpPr>
        <p:spPr>
          <a:xfrm>
            <a:off x="187626" y="444026"/>
            <a:ext cx="420149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4D4FC7E-D2AD-436A-A207-B2656BD36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726854"/>
              </p:ext>
            </p:extLst>
          </p:nvPr>
        </p:nvGraphicFramePr>
        <p:xfrm>
          <a:off x="159097" y="521762"/>
          <a:ext cx="9504000" cy="5412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603">
                  <a:extLst>
                    <a:ext uri="{9D8B030D-6E8A-4147-A177-3AD203B41FA5}">
                      <a16:colId xmlns:a16="http://schemas.microsoft.com/office/drawing/2014/main" val="3202572236"/>
                    </a:ext>
                  </a:extLst>
                </a:gridCol>
                <a:gridCol w="906397">
                  <a:extLst>
                    <a:ext uri="{9D8B030D-6E8A-4147-A177-3AD203B41FA5}">
                      <a16:colId xmlns:a16="http://schemas.microsoft.com/office/drawing/2014/main" val="2022380490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922922696"/>
                    </a:ext>
                  </a:extLst>
                </a:gridCol>
                <a:gridCol w="6840000">
                  <a:extLst>
                    <a:ext uri="{9D8B030D-6E8A-4147-A177-3AD203B41FA5}">
                      <a16:colId xmlns:a16="http://schemas.microsoft.com/office/drawing/2014/main" val="1863784667"/>
                    </a:ext>
                  </a:extLst>
                </a:gridCol>
              </a:tblGrid>
              <a:tr h="27667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지역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3507"/>
                  </a:ext>
                </a:extLst>
              </a:tr>
              <a:tr h="209863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텍사스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주택용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PV·BESS</a:t>
                      </a: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허가 가속화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PV,</a:t>
                      </a:r>
                      <a:r>
                        <a:rPr lang="ko-KR" altLang="en-US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BESS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TX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州 상원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1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주택용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PV·BESS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허가 가속화 법안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SB 1202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상원 만장일치 통과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(3/31)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 하원 논의 중</a:t>
                      </a:r>
                      <a:endParaRPr lang="en-US" altLang="ko-KR" sz="1100" b="1" i="0" u="none" strike="noStrike" kern="1200" noProof="0" dirty="0"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목적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Roof-top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PV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허가 프로세스의 병목 현상을 완화하기 위함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기존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TX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州는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건축 허가 절차에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숏클락</a:t>
                      </a:r>
                      <a:r>
                        <a:rPr lang="en-US" altLang="ko-KR" sz="1100" b="0" kern="1200" baseline="300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※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방식을 적용하고 있으며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주택용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PV·BESS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까지 확장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※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숏클락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(shot clock)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방식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1)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특정 기간 동안 건축 허가 신청에 대한 州 규제 당국의 승인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거부 판별되지 않을 경우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'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자격을 갖춘 제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허가된 엔지</a:t>
                      </a:r>
                      <a:b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니어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등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)’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을 통해 건축물 요구조건 준수 여부 검증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2) '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자격을 갖춘 제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는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15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 이내로 규제 기관에 결과 통지해야 함 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3)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신청자는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통지 제출 직후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PV·BESS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설치 공사 시작 가능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4)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규제 기관은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통지 수령 후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영업일 이내에 승인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허가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인증 발급 필요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cf.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주택용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PV·BESS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허가 병목 현상을 해소하기 위한 미국 州 정부 움직임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1) TX / CA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: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주택용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PV·BESS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허가 자동화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SW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플랫폼인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 ‘</a:t>
                      </a:r>
                      <a:r>
                        <a:rPr kumimoji="0" lang="en-US" altLang="ko-KR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SolarAPP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+*’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을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대규모 지자체에 도입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    * </a:t>
                      </a:r>
                      <a:r>
                        <a:rPr kumimoji="0" lang="en-US" altLang="ko-KR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SolarAPP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+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국립 재생에너지 연구소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(NREL)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이 개발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허가 절차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12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일 단축 가능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2) NY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/ NJ / IL / CO / MA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: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주택용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PV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허가 절차 간소화 목표로 법안 추진 중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☞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TX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州 </a:t>
                      </a:r>
                      <a:r>
                        <a:rPr kumimoji="0" lang="ko-KR" alt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주택용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PV·BESS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프로젝트 가속화 및 확장 추세에 따른 시장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진입 기회 모니터링 필요</a:t>
                      </a: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368771"/>
                  </a:ext>
                </a:extLst>
              </a:tr>
            </a:tbl>
          </a:graphicData>
        </a:graphic>
      </p:graphicFrame>
      <p:sp>
        <p:nvSpPr>
          <p:cNvPr id="6" name="矩形 45">
            <a:extLst>
              <a:ext uri="{FF2B5EF4-FFF2-40B4-BE49-F238E27FC236}">
                <a16:creationId xmlns:a16="http://schemas.microsoft.com/office/drawing/2014/main" id="{7287C81E-7F74-4810-96AF-5BA0323EB7E2}"/>
              </a:ext>
            </a:extLst>
          </p:cNvPr>
          <p:cNvSpPr/>
          <p:nvPr/>
        </p:nvSpPr>
        <p:spPr>
          <a:xfrm>
            <a:off x="5431673" y="1034814"/>
            <a:ext cx="517770" cy="13439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>
              <a:lnSpc>
                <a:spcPts val="1100"/>
              </a:lnSpc>
              <a:spcBef>
                <a:spcPts val="600"/>
              </a:spcBef>
              <a:defRPr/>
            </a:pP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2/10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일 발의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굴림" panose="020B0600000101010101" pitchFamily="50" charset="-127"/>
            </a:endParaRPr>
          </a:p>
        </p:txBody>
      </p:sp>
      <p:sp>
        <p:nvSpPr>
          <p:cNvPr id="7" name="矩形 45">
            <a:extLst>
              <a:ext uri="{FF2B5EF4-FFF2-40B4-BE49-F238E27FC236}">
                <a16:creationId xmlns:a16="http://schemas.microsoft.com/office/drawing/2014/main" id="{6FBEDE0F-4E45-4FFB-B6C2-E60B443DD0D3}"/>
              </a:ext>
            </a:extLst>
          </p:cNvPr>
          <p:cNvSpPr/>
          <p:nvPr/>
        </p:nvSpPr>
        <p:spPr>
          <a:xfrm>
            <a:off x="7380672" y="1034814"/>
            <a:ext cx="851195" cy="13439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>
              <a:lnSpc>
                <a:spcPts val="1100"/>
              </a:lnSpc>
              <a:spcBef>
                <a:spcPts val="600"/>
              </a:spcBef>
              <a:defRPr/>
            </a:pP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4/17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일 공청회 진행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굴림" panose="020B0600000101010101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915AE69-8B0C-4B39-BFAF-745D75475EE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065992" y="4603323"/>
          <a:ext cx="2216595" cy="971550"/>
        </p:xfrm>
        <a:graphic>
          <a:graphicData uri="http://schemas.openxmlformats.org/drawingml/2006/table">
            <a:tbl>
              <a:tblPr/>
              <a:tblGrid>
                <a:gridCol w="435625">
                  <a:extLst>
                    <a:ext uri="{9D8B030D-6E8A-4147-A177-3AD203B41FA5}">
                      <a16:colId xmlns:a16="http://schemas.microsoft.com/office/drawing/2014/main" val="3172228362"/>
                    </a:ext>
                  </a:extLst>
                </a:gridCol>
                <a:gridCol w="1780970">
                  <a:extLst>
                    <a:ext uri="{9D8B030D-6E8A-4147-A177-3AD203B41FA5}">
                      <a16:colId xmlns:a16="http://schemas.microsoft.com/office/drawing/2014/main" val="3418680135"/>
                    </a:ext>
                  </a:extLst>
                </a:gridCol>
              </a:tblGrid>
              <a:tr h="1518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州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법안 참조번호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232464"/>
                  </a:ext>
                </a:extLst>
              </a:tr>
              <a:tr h="1518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NY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SB 5781, </a:t>
                      </a:r>
                      <a:r>
                        <a:rPr lang="ko-KR" altLang="en-US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의회 법안 </a:t>
                      </a:r>
                      <a:r>
                        <a:rPr lang="en-US" altLang="ko-KR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A-6270</a:t>
                      </a:r>
                      <a:endParaRPr lang="en-US" sz="10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7996087"/>
                  </a:ext>
                </a:extLst>
              </a:tr>
              <a:tr h="1518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NJ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SB 4100, </a:t>
                      </a:r>
                      <a:r>
                        <a:rPr lang="ko-KR" altLang="en-US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의회 법안 </a:t>
                      </a:r>
                      <a:r>
                        <a:rPr lang="en-US" altLang="ko-KR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A-5264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3709030"/>
                  </a:ext>
                </a:extLst>
              </a:tr>
              <a:tr h="1518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IL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SB 2395, </a:t>
                      </a:r>
                      <a:r>
                        <a:rPr lang="en-US" altLang="ko-KR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HB 3265</a:t>
                      </a:r>
                      <a:endParaRPr lang="en-US" sz="10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64881146"/>
                  </a:ext>
                </a:extLst>
              </a:tr>
              <a:tr h="1518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HB 1096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6559583"/>
                  </a:ext>
                </a:extLst>
              </a:tr>
              <a:tr h="1518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SB 2269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8825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873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A08FFEAF-7B4E-4DB3-A521-40B9C1379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64" y="76723"/>
            <a:ext cx="34211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SzTx/>
              <a:defRPr/>
            </a:pP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’25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정책 동향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BTM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(3/3)</a:t>
            </a:r>
            <a:endParaRPr kumimoji="0" lang="ko-KR" altLang="en-US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04AE614-7BDD-4958-ADE6-2FD71AEC7A32}"/>
              </a:ext>
            </a:extLst>
          </p:cNvPr>
          <p:cNvCxnSpPr>
            <a:cxnSpLocks/>
          </p:cNvCxnSpPr>
          <p:nvPr/>
        </p:nvCxnSpPr>
        <p:spPr>
          <a:xfrm>
            <a:off x="187626" y="444026"/>
            <a:ext cx="420149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4D4FC7E-D2AD-436A-A207-B2656BD36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380230"/>
              </p:ext>
            </p:extLst>
          </p:nvPr>
        </p:nvGraphicFramePr>
        <p:xfrm>
          <a:off x="159097" y="521762"/>
          <a:ext cx="9504000" cy="5095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603">
                  <a:extLst>
                    <a:ext uri="{9D8B030D-6E8A-4147-A177-3AD203B41FA5}">
                      <a16:colId xmlns:a16="http://schemas.microsoft.com/office/drawing/2014/main" val="3202572236"/>
                    </a:ext>
                  </a:extLst>
                </a:gridCol>
                <a:gridCol w="906397">
                  <a:extLst>
                    <a:ext uri="{9D8B030D-6E8A-4147-A177-3AD203B41FA5}">
                      <a16:colId xmlns:a16="http://schemas.microsoft.com/office/drawing/2014/main" val="2022380490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922922696"/>
                    </a:ext>
                  </a:extLst>
                </a:gridCol>
                <a:gridCol w="6840000">
                  <a:extLst>
                    <a:ext uri="{9D8B030D-6E8A-4147-A177-3AD203B41FA5}">
                      <a16:colId xmlns:a16="http://schemas.microsoft.com/office/drawing/2014/main" val="1863784667"/>
                    </a:ext>
                  </a:extLst>
                </a:gridCol>
              </a:tblGrid>
              <a:tr h="27667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지역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3507"/>
                  </a:ext>
                </a:extLst>
              </a:tr>
              <a:tr h="209863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캘리포니아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NEM 3.0 </a:t>
                      </a: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의무 전환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PV, BESS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CA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州 의회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NEM 1.0/2.0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고객 대상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NEM 3.0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으로 의무 전환 요구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법안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AB 942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발의 및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2/19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위원회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차 논의 진행</a:t>
                      </a:r>
                      <a:endParaRPr lang="en-US" altLang="ko-KR" sz="1100" b="1" i="0" u="none" strike="noStrike" kern="1200" noProof="0" dirty="0"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목적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NEM 1.0/2.0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고객이 받는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잉여 전력 송출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크레딧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을 삭감하여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‘PV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패널 보유 고객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비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非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보유 고객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간 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  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전력망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유지 비용을 공정하게 부담하기 위함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· PV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패널 보유한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NEM 1.0/2.0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고객이 받는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잉여 전력 송출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크레딧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전력망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유지 비용 충당 시 부족분을 발생시킴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PV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패널 비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非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보유 고객이 차액을 충당하기 때문에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고객 간 비용 전가 발생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세부 사항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①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NEM 1.0/2.0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운영 기간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경과 후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NEM 3.0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으로 의무 전환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크레딧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수혜기간 기존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년에서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년으로 단축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</a:t>
                      </a: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※ NEM 1.0/2.0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에서 </a:t>
                      </a: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NEM 3.0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으로 전환 시</a:t>
                      </a: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PV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잉여</a:t>
                      </a: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전력 보상 </a:t>
                      </a: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80% 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삭감</a:t>
                      </a:r>
                      <a:endParaRPr lang="en-US" altLang="ko-KR" sz="1000" b="0" kern="1200" noProof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②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NEM 1.0/2.0 PV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시설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매각 시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NEM 3.0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으로 의무 전환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③ 전력사가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CA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州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배출권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거래제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(Cap-and-Trade Program)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를 통해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PV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고객 향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크레딧을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제공하는 것을 금지</a:t>
                      </a:r>
                      <a:r>
                        <a:rPr lang="en-US" altLang="ko-KR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(’26.01.01 </a:t>
                      </a:r>
                      <a:r>
                        <a:rPr lang="ko-KR" altLang="en-US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발효</a:t>
                      </a:r>
                      <a:r>
                        <a:rPr lang="en-US" altLang="ko-KR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>
                        <a:solidFill>
                          <a:srgbClr val="0066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cf. 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캘리포니아 태양광 및 저장 협회</a:t>
                      </a:r>
                      <a:r>
                        <a:rPr lang="en-US" altLang="ko-KR" sz="1000" b="0" kern="1200" baseline="300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1) 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등 관련</a:t>
                      </a: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단체</a:t>
                      </a: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해당 법안이 정부와</a:t>
                      </a: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소비자 간 체결된 </a:t>
                      </a: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이상의 장기 보증을 위반하는 법안이며</a:t>
                      </a: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altLang="ko-KR" sz="1000" b="0" kern="1200" noProof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대규모 유틸리티가 전력 요금 인하 등 솔루션을 제공하기 보다 </a:t>
                      </a: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Roof-top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PV</a:t>
                      </a:r>
                      <a:r>
                        <a:rPr lang="ko-KR" altLang="en-US" sz="10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에 전력 요금 인상의 책임을 전가한다고 지적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☞ 법안 통과 시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NEM 3.0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전환 확대로 </a:t>
                      </a:r>
                      <a:r>
                        <a:rPr kumimoji="0" lang="ko-KR" alt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주택용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kumimoji="0" lang="ko-KR" alt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상업용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PV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BESS </a:t>
                      </a:r>
                      <a:r>
                        <a:rPr kumimoji="0" lang="ko-KR" alt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연계율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증가 예상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368771"/>
                  </a:ext>
                </a:extLst>
              </a:tr>
            </a:tbl>
          </a:graphicData>
        </a:graphic>
      </p:graphicFrame>
      <p:sp>
        <p:nvSpPr>
          <p:cNvPr id="8" name="矩形 45">
            <a:extLst>
              <a:ext uri="{FF2B5EF4-FFF2-40B4-BE49-F238E27FC236}">
                <a16:creationId xmlns:a16="http://schemas.microsoft.com/office/drawing/2014/main" id="{3D931BEA-977C-4E19-AE1F-BF348FF3D6C2}"/>
              </a:ext>
            </a:extLst>
          </p:cNvPr>
          <p:cNvSpPr/>
          <p:nvPr/>
        </p:nvSpPr>
        <p:spPr>
          <a:xfrm>
            <a:off x="6392723" y="1106411"/>
            <a:ext cx="3199594" cy="13439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>
              <a:lnSpc>
                <a:spcPts val="1100"/>
              </a:lnSpc>
              <a:spcBef>
                <a:spcPts val="600"/>
              </a:spcBef>
              <a:defRPr/>
            </a:pP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3/26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일 위원회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2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차 논의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, 4/30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일 공청회 예정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법안 통과 시 ‘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26.07.01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발효 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굴림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6796DA-6FD8-470F-A338-524A3560FD11}"/>
              </a:ext>
            </a:extLst>
          </p:cNvPr>
          <p:cNvSpPr/>
          <p:nvPr/>
        </p:nvSpPr>
        <p:spPr>
          <a:xfrm>
            <a:off x="121664" y="6574377"/>
            <a:ext cx="211147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1) California Solar &amp; Storage Association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99119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7E95E5-85A1-47D0-91FF-4606B8EA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98823"/>
              </p:ext>
            </p:extLst>
          </p:nvPr>
        </p:nvGraphicFramePr>
        <p:xfrm>
          <a:off x="159097" y="524228"/>
          <a:ext cx="9612000" cy="5698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000">
                  <a:extLst>
                    <a:ext uri="{9D8B030D-6E8A-4147-A177-3AD203B41FA5}">
                      <a16:colId xmlns:a16="http://schemas.microsoft.com/office/drawing/2014/main" val="3202572236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022380490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922922696"/>
                    </a:ext>
                  </a:extLst>
                </a:gridCol>
                <a:gridCol w="6948000">
                  <a:extLst>
                    <a:ext uri="{9D8B030D-6E8A-4147-A177-3AD203B41FA5}">
                      <a16:colId xmlns:a16="http://schemas.microsoft.com/office/drawing/2014/main" val="1863784667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지역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3507"/>
                  </a:ext>
                </a:extLst>
              </a:tr>
              <a:tr h="333334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버지니아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설치 목표 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버지니아 주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유틸리티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Dominion Energy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Appalachian Power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의 중장기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설치 목표 증량 법안 상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하원 통과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(2/19)</a:t>
                      </a:r>
                      <a:endParaRPr lang="en-US" altLang="ko-KR" sz="1100" b="1" i="0" u="none" strike="noStrike" kern="1200" noProof="0" dirty="0"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상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하원 동반 법안</a:t>
                      </a:r>
                      <a:r>
                        <a:rPr lang="en-US" altLang="ko-KR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ko-KR" sz="1000" b="0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SB1394, HB2537</a:t>
                      </a:r>
                      <a:r>
                        <a:rPr lang="en-US" altLang="ko-KR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으로 통과되었으며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주지사 승인 시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’25.07.01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발효 예정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유틸리티의 신규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투자를 촉진하기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위함이며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현재 두 유틸리티는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PV, Wind, ESS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입찰 적극 계획 및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추진 중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기존 버지니아 청정 경제법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(Virginia Clean Economy Act, 2020)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內 설정한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설치 목표 증량 및 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장주기 구분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※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州 입법 기관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JLARC, ’23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연구에서 데이터 센터 산업 등으로 州 전력 수요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내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 증가 예상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州 기업 위원회에 목표 변경 권한 부여</a:t>
                      </a:r>
                      <a:r>
                        <a:rPr lang="en-US" altLang="ko-KR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프로젝트 조달 실용성에 따라 변경 가능</a:t>
                      </a:r>
                      <a:r>
                        <a:rPr lang="en-US" altLang="ko-KR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 LDES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기술의 시범 프로그램 수행 후 실행 가능성 판단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설치 목표의 달성 가능성 검증 예정</a:t>
                      </a:r>
                      <a:r>
                        <a:rPr lang="ko-KR" altLang="en-US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(LDES</a:t>
                      </a:r>
                      <a:r>
                        <a:rPr lang="ko-KR" altLang="en-US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는 </a:t>
                      </a:r>
                      <a:r>
                        <a:rPr lang="en-US" altLang="ko-KR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10h </a:t>
                      </a:r>
                      <a:r>
                        <a:rPr lang="ko-KR" altLang="en-US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이상으로 정의함</a:t>
                      </a:r>
                      <a:r>
                        <a:rPr lang="en-US" altLang="ko-KR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30.03.01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까지 조사 결과 발표 및 최종 명령</a:t>
                      </a:r>
                      <a:r>
                        <a:rPr lang="en-US" altLang="ko-KR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(Final order)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내려야 함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☞ 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기술 검증이 필요한 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LDES 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본격 조달 전 현재 </a:t>
                      </a:r>
                      <a:r>
                        <a:rPr lang="en-US" altLang="ko-KR" sz="1100" b="1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LiB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대응 가능한 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 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목표량은 약 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배 증가됨에 따라 </a:t>
                      </a:r>
                      <a:b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추가 사업기회 모니터링 필요 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(LDES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조달 기간 고려하여 목표 시점 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지연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84206"/>
                  </a:ext>
                </a:extLst>
              </a:tr>
            </a:tbl>
          </a:graphicData>
        </a:graphic>
      </p:graphicFrame>
      <p:sp>
        <p:nvSpPr>
          <p:cNvPr id="22" name="Text Box 2">
            <a:extLst>
              <a:ext uri="{FF2B5EF4-FFF2-40B4-BE49-F238E27FC236}">
                <a16:creationId xmlns:a16="http://schemas.microsoft.com/office/drawing/2014/main" id="{18AF6001-76CD-41D0-83FE-457CD8C48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64" y="76723"/>
            <a:ext cx="34163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’25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정책 동향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공통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(2/5)</a:t>
            </a:r>
            <a:endParaRPr kumimoji="0" lang="ko-KR" altLang="en-US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B72047A-DDEE-42E0-A36F-20D22A9C3CD8}"/>
              </a:ext>
            </a:extLst>
          </p:cNvPr>
          <p:cNvCxnSpPr>
            <a:cxnSpLocks/>
          </p:cNvCxnSpPr>
          <p:nvPr/>
        </p:nvCxnSpPr>
        <p:spPr>
          <a:xfrm>
            <a:off x="187626" y="434501"/>
            <a:ext cx="420547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5">
            <a:extLst>
              <a:ext uri="{FF2B5EF4-FFF2-40B4-BE49-F238E27FC236}">
                <a16:creationId xmlns:a16="http://schemas.microsoft.com/office/drawing/2014/main" id="{8859D236-BB9A-46EB-A966-D4033FCD54E7}"/>
              </a:ext>
            </a:extLst>
          </p:cNvPr>
          <p:cNvSpPr/>
          <p:nvPr/>
        </p:nvSpPr>
        <p:spPr>
          <a:xfrm>
            <a:off x="3799662" y="2195280"/>
            <a:ext cx="1986121" cy="1315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defTabSz="914400">
              <a:lnSpc>
                <a:spcPts val="1100"/>
              </a:lnSpc>
              <a:spcBef>
                <a:spcPts val="600"/>
              </a:spcBef>
              <a:defRPr/>
            </a:pP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Joint Legislative Audit and Review Commission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862C969-FFB6-4EE5-8CBF-C46719D472B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096296" y="3623525"/>
          <a:ext cx="5549749" cy="1422165"/>
        </p:xfrm>
        <a:graphic>
          <a:graphicData uri="http://schemas.openxmlformats.org/drawingml/2006/table">
            <a:tbl>
              <a:tblPr/>
              <a:tblGrid>
                <a:gridCol w="1206751">
                  <a:extLst>
                    <a:ext uri="{9D8B030D-6E8A-4147-A177-3AD203B41FA5}">
                      <a16:colId xmlns:a16="http://schemas.microsoft.com/office/drawing/2014/main" val="1464683361"/>
                    </a:ext>
                  </a:extLst>
                </a:gridCol>
                <a:gridCol w="2171499">
                  <a:extLst>
                    <a:ext uri="{9D8B030D-6E8A-4147-A177-3AD203B41FA5}">
                      <a16:colId xmlns:a16="http://schemas.microsoft.com/office/drawing/2014/main" val="3295293141"/>
                    </a:ext>
                  </a:extLst>
                </a:gridCol>
                <a:gridCol w="2171499">
                  <a:extLst>
                    <a:ext uri="{9D8B030D-6E8A-4147-A177-3AD203B41FA5}">
                      <a16:colId xmlns:a16="http://schemas.microsoft.com/office/drawing/2014/main" val="1097981493"/>
                    </a:ext>
                  </a:extLst>
                </a:gridCol>
              </a:tblGrid>
              <a:tr h="185926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■ 유틸리티 別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설치목표 용량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’35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3.1GW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’45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10GW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단주기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6GW /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장주기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4GW)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상향 조정</a:t>
                      </a:r>
                    </a:p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719437"/>
                  </a:ext>
                </a:extLst>
              </a:tr>
              <a:tr h="185926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2020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2025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402296"/>
                  </a:ext>
                </a:extLst>
              </a:tr>
              <a:tr h="185926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버지니아 청정 경제법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(VCEA)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설치 목표 증량 법안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555166"/>
                  </a:ext>
                </a:extLst>
              </a:tr>
              <a:tr h="3603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Dominion Energy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2035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말까지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2,700MW ESS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설치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(2045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net-zero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달성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2045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년까지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5,220MW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단주기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3,480MW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장주기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429922"/>
                  </a:ext>
                </a:extLst>
              </a:tr>
              <a:tr h="3603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Appalachian Power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2035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말까지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400MW ESS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설치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(2050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net-zero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달성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2040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년까지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780MW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단주기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설치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2045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년까지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520MW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장주기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706737"/>
                  </a:ext>
                </a:extLst>
              </a:tr>
            </a:tbl>
          </a:graphicData>
        </a:graphic>
      </p:graphicFrame>
      <p:sp>
        <p:nvSpPr>
          <p:cNvPr id="8" name="矩形 45">
            <a:extLst>
              <a:ext uri="{FF2B5EF4-FFF2-40B4-BE49-F238E27FC236}">
                <a16:creationId xmlns:a16="http://schemas.microsoft.com/office/drawing/2014/main" id="{3AD88E0F-1390-4D69-9425-06E23591B351}"/>
              </a:ext>
            </a:extLst>
          </p:cNvPr>
          <p:cNvSpPr/>
          <p:nvPr/>
        </p:nvSpPr>
        <p:spPr>
          <a:xfrm>
            <a:off x="3096296" y="5123863"/>
            <a:ext cx="6650607" cy="352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ts val="1100"/>
              </a:lnSpc>
              <a:spcBef>
                <a:spcPts val="600"/>
              </a:spcBef>
              <a:defRPr/>
            </a:pP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* LDES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의 기술 검증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실제 조달 기간 고려하여 목표 구간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+10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년 지연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굴림" panose="020B0600000101010101" pitchFamily="50" charset="-127"/>
            </a:endParaRPr>
          </a:p>
          <a:p>
            <a:pPr lvl="0">
              <a:lnSpc>
                <a:spcPts val="1100"/>
              </a:lnSpc>
              <a:spcBef>
                <a:spcPts val="600"/>
              </a:spcBef>
              <a:defRPr/>
            </a:pP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** Dominion Energy :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미국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3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개 州 전력 공급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, 9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개 州 천연가스 공급 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/  Appalachian Power :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유틸리티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AEP(American Electric Power)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지역 자회사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굴림" panose="020B0600000101010101" pitchFamily="50" charset="-127"/>
            </a:endParaRPr>
          </a:p>
        </p:txBody>
      </p:sp>
      <p:sp>
        <p:nvSpPr>
          <p:cNvPr id="9" name="矩形 45">
            <a:extLst>
              <a:ext uri="{FF2B5EF4-FFF2-40B4-BE49-F238E27FC236}">
                <a16:creationId xmlns:a16="http://schemas.microsoft.com/office/drawing/2014/main" id="{26A6C262-2335-42C0-A080-92FB3F5854DE}"/>
              </a:ext>
            </a:extLst>
          </p:cNvPr>
          <p:cNvSpPr/>
          <p:nvPr/>
        </p:nvSpPr>
        <p:spPr>
          <a:xfrm>
            <a:off x="6367172" y="5082995"/>
            <a:ext cx="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>
              <a:spcBef>
                <a:spcPts val="600"/>
              </a:spcBef>
              <a:defRPr/>
            </a:pP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972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7E95E5-85A1-47D0-91FF-4606B8EA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740287"/>
              </p:ext>
            </p:extLst>
          </p:nvPr>
        </p:nvGraphicFramePr>
        <p:xfrm>
          <a:off x="159097" y="524231"/>
          <a:ext cx="9612000" cy="5076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000">
                  <a:extLst>
                    <a:ext uri="{9D8B030D-6E8A-4147-A177-3AD203B41FA5}">
                      <a16:colId xmlns:a16="http://schemas.microsoft.com/office/drawing/2014/main" val="3202572236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022380490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922922696"/>
                    </a:ext>
                  </a:extLst>
                </a:gridCol>
                <a:gridCol w="6948000">
                  <a:extLst>
                    <a:ext uri="{9D8B030D-6E8A-4147-A177-3AD203B41FA5}">
                      <a16:colId xmlns:a16="http://schemas.microsoft.com/office/drawing/2014/main" val="1863784667"/>
                    </a:ext>
                  </a:extLst>
                </a:gridCol>
              </a:tblGrid>
              <a:tr h="2859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지역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3507"/>
                  </a:ext>
                </a:extLst>
              </a:tr>
              <a:tr h="271864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일리노이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설치 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일리노이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주 하원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’35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년까지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15GW ESS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구축 목표 법안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HB3758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발의</a:t>
                      </a:r>
                      <a:endParaRPr lang="en-US" altLang="ko-KR" sz="11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연도별 누계 설치 용량 목표 설정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ESS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구축 활성화를 위한 州 전력기관법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공공 유틸리티법 개정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1)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연도별 설치 용량 목표</a:t>
                      </a:r>
                      <a:r>
                        <a:rPr lang="en-US" altLang="ko-KR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(Tech </a:t>
                      </a:r>
                      <a:r>
                        <a:rPr lang="ko-KR" altLang="en-US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무관</a:t>
                      </a:r>
                      <a:r>
                        <a:rPr lang="en-US" altLang="ko-KR" sz="10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전력기관법 개정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州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전력청에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조달 프로세스 추진 권한 부여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 입찰 수행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계약 실행 등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3)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공공 유틸리티법 개정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청정 에너지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PJT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전력망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상호 연결 지연 조치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VPP Program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으로 에너지 비용 감축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18097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➊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상호 연결 특정 조치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州 상무위원회 向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개정법 발효일로부터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 이내 수행하도록 요구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18097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➋ VPP 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피크 개선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Program 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특정 조건의 유틸리티 向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개정법 발표일로부터 각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90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 이내 초기 요금 제안 요구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일정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2/7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발의 →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2/18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하원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차 토론 →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3/11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집행 위원회 할당 →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3/19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공청회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총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차례 토론과 투표를 거쳐 상원에 회부됨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州 정부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’21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CEJA</a:t>
                      </a:r>
                      <a:r>
                        <a:rPr kumimoji="0" lang="en-US" altLang="ko-KR" sz="11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승인을 통해 청정 에너지 목표 비중 ’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26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 → ’50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100%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로 강화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(’30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40%, ’40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50%)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CEJA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후속 조치로 청정 에너지 확대를 위한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구축 활성화 법안 입법 노력 지속 중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(’24.5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유사 법안 입법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(8.5GW)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이력 있으나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의회 마감으로 무기한 연기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☞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친환경 에너지 목표 상향 및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목표 입법화 시도 지속됨에 따라 </a:t>
                      </a:r>
                      <a:r>
                        <a:rPr kumimoji="0" lang="ko-KR" alt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일리노이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주 內 중장기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개발 확대 전망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현재 미국 內 캘리포니아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뉴욕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뉴저지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버지니아 등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13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주에서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의무화 법안 승인됨 </a:t>
                      </a:r>
                      <a:b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(4h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적용 시 약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93GWh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84206"/>
                  </a:ext>
                </a:extLst>
              </a:tr>
            </a:tbl>
          </a:graphicData>
        </a:graphic>
      </p:graphicFrame>
      <p:sp>
        <p:nvSpPr>
          <p:cNvPr id="22" name="Text Box 2">
            <a:extLst>
              <a:ext uri="{FF2B5EF4-FFF2-40B4-BE49-F238E27FC236}">
                <a16:creationId xmlns:a16="http://schemas.microsoft.com/office/drawing/2014/main" id="{18AF6001-76CD-41D0-83FE-457CD8C48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64" y="76723"/>
            <a:ext cx="34163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’25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정책 동향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공통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(3/5)</a:t>
            </a:r>
            <a:endParaRPr kumimoji="0" lang="ko-KR" altLang="en-US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B72047A-DDEE-42E0-A36F-20D22A9C3CD8}"/>
              </a:ext>
            </a:extLst>
          </p:cNvPr>
          <p:cNvCxnSpPr>
            <a:cxnSpLocks/>
          </p:cNvCxnSpPr>
          <p:nvPr/>
        </p:nvCxnSpPr>
        <p:spPr>
          <a:xfrm>
            <a:off x="187626" y="434501"/>
            <a:ext cx="420547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45">
            <a:extLst>
              <a:ext uri="{FF2B5EF4-FFF2-40B4-BE49-F238E27FC236}">
                <a16:creationId xmlns:a16="http://schemas.microsoft.com/office/drawing/2014/main" id="{26A6C262-2335-42C0-A080-92FB3F5854DE}"/>
              </a:ext>
            </a:extLst>
          </p:cNvPr>
          <p:cNvSpPr/>
          <p:nvPr/>
        </p:nvSpPr>
        <p:spPr>
          <a:xfrm>
            <a:off x="6367172" y="5082995"/>
            <a:ext cx="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>
              <a:spcBef>
                <a:spcPts val="600"/>
              </a:spcBef>
              <a:defRPr/>
            </a:pP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굴림" panose="020B0600000101010101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30B4197-A29E-445C-8931-20103A1A640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058151" y="1636281"/>
          <a:ext cx="4149876" cy="346428"/>
        </p:xfrm>
        <a:graphic>
          <a:graphicData uri="http://schemas.openxmlformats.org/drawingml/2006/table">
            <a:tbl>
              <a:tblPr/>
              <a:tblGrid>
                <a:gridCol w="851961">
                  <a:extLst>
                    <a:ext uri="{9D8B030D-6E8A-4147-A177-3AD203B41FA5}">
                      <a16:colId xmlns:a16="http://schemas.microsoft.com/office/drawing/2014/main" val="4068212230"/>
                    </a:ext>
                  </a:extLst>
                </a:gridCol>
                <a:gridCol w="659583">
                  <a:extLst>
                    <a:ext uri="{9D8B030D-6E8A-4147-A177-3AD203B41FA5}">
                      <a16:colId xmlns:a16="http://schemas.microsoft.com/office/drawing/2014/main" val="2521165502"/>
                    </a:ext>
                  </a:extLst>
                </a:gridCol>
                <a:gridCol w="659583">
                  <a:extLst>
                    <a:ext uri="{9D8B030D-6E8A-4147-A177-3AD203B41FA5}">
                      <a16:colId xmlns:a16="http://schemas.microsoft.com/office/drawing/2014/main" val="3280013326"/>
                    </a:ext>
                  </a:extLst>
                </a:gridCol>
                <a:gridCol w="659583">
                  <a:extLst>
                    <a:ext uri="{9D8B030D-6E8A-4147-A177-3AD203B41FA5}">
                      <a16:colId xmlns:a16="http://schemas.microsoft.com/office/drawing/2014/main" val="3888906952"/>
                    </a:ext>
                  </a:extLst>
                </a:gridCol>
                <a:gridCol w="659583">
                  <a:extLst>
                    <a:ext uri="{9D8B030D-6E8A-4147-A177-3AD203B41FA5}">
                      <a16:colId xmlns:a16="http://schemas.microsoft.com/office/drawing/2014/main" val="369458236"/>
                    </a:ext>
                  </a:extLst>
                </a:gridCol>
                <a:gridCol w="659583">
                  <a:extLst>
                    <a:ext uri="{9D8B030D-6E8A-4147-A177-3AD203B41FA5}">
                      <a16:colId xmlns:a16="http://schemas.microsoft.com/office/drawing/2014/main" val="1437536843"/>
                    </a:ext>
                  </a:extLst>
                </a:gridCol>
              </a:tblGrid>
              <a:tr h="1732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납품 연도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’26 - ’27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’28 – ’29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’30 – ’31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’32 – ’33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’34 – ’35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653760"/>
                  </a:ext>
                </a:extLst>
              </a:tr>
              <a:tr h="1732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용량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GW)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6.0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9.0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12.0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15.0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909629"/>
                  </a:ext>
                </a:extLst>
              </a:tr>
            </a:tbl>
          </a:graphicData>
        </a:graphic>
      </p:graphicFrame>
      <p:sp>
        <p:nvSpPr>
          <p:cNvPr id="13" name="矩形 45">
            <a:extLst>
              <a:ext uri="{FF2B5EF4-FFF2-40B4-BE49-F238E27FC236}">
                <a16:creationId xmlns:a16="http://schemas.microsoft.com/office/drawing/2014/main" id="{4F65F1A6-B643-45A6-985B-1C6C14E4A788}"/>
              </a:ext>
            </a:extLst>
          </p:cNvPr>
          <p:cNvSpPr/>
          <p:nvPr/>
        </p:nvSpPr>
        <p:spPr>
          <a:xfrm>
            <a:off x="159097" y="6640213"/>
            <a:ext cx="1931619" cy="14106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>
              <a:lnSpc>
                <a:spcPts val="1100"/>
              </a:lnSpc>
              <a:spcBef>
                <a:spcPts val="600"/>
              </a:spcBef>
              <a:defRPr/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1) CEJA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: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Climate and Equitable Jobs Act</a:t>
            </a:r>
          </a:p>
        </p:txBody>
      </p:sp>
      <p:sp>
        <p:nvSpPr>
          <p:cNvPr id="11" name="矩形 45">
            <a:extLst>
              <a:ext uri="{FF2B5EF4-FFF2-40B4-BE49-F238E27FC236}">
                <a16:creationId xmlns:a16="http://schemas.microsoft.com/office/drawing/2014/main" id="{5C523F23-6499-4609-B3C8-C94DB62E3BCC}"/>
              </a:ext>
            </a:extLst>
          </p:cNvPr>
          <p:cNvSpPr/>
          <p:nvPr/>
        </p:nvSpPr>
        <p:spPr>
          <a:xfrm>
            <a:off x="4709631" y="3012563"/>
            <a:ext cx="2364430" cy="13439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defTabSz="914400">
              <a:lnSpc>
                <a:spcPts val="1100"/>
              </a:lnSpc>
              <a:spcBef>
                <a:spcPts val="600"/>
              </a:spcBef>
              <a:defRPr/>
            </a:pPr>
            <a:r>
              <a:rPr lang="en-US" altLang="zh-CN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[’23.1.1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기준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] 30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만 명 이상의 고객을 보유한 유틸리티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281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7E95E5-85A1-47D0-91FF-4606B8EA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615980"/>
              </p:ext>
            </p:extLst>
          </p:nvPr>
        </p:nvGraphicFramePr>
        <p:xfrm>
          <a:off x="159097" y="524231"/>
          <a:ext cx="9612000" cy="4690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000">
                  <a:extLst>
                    <a:ext uri="{9D8B030D-6E8A-4147-A177-3AD203B41FA5}">
                      <a16:colId xmlns:a16="http://schemas.microsoft.com/office/drawing/2014/main" val="3202572236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022380490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922922696"/>
                    </a:ext>
                  </a:extLst>
                </a:gridCol>
                <a:gridCol w="6948000">
                  <a:extLst>
                    <a:ext uri="{9D8B030D-6E8A-4147-A177-3AD203B41FA5}">
                      <a16:colId xmlns:a16="http://schemas.microsoft.com/office/drawing/2014/main" val="1863784667"/>
                    </a:ext>
                  </a:extLst>
                </a:gridCol>
              </a:tblGrid>
              <a:tr h="2859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지역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3507"/>
                  </a:ext>
                </a:extLst>
              </a:tr>
              <a:tr h="11684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일리노이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IRP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제출 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의무화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재생에너지</a:t>
                      </a: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데이터센터 확대에 따른 부하 대응 위하여 유틸리티의 ‘청정 에너지 계획’ 제출 의무화 법안 발의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SB 2473 / HB 3779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유틸리티의 州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전력청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향 최소 비용의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구간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IRP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제출 의무화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(’25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11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 및 매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주기 제출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입법 배경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①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전력 요금 납부자의 비용 최소화 ② 화석 연료에서 재생 에너지 자원으로의 전환 기회 극대화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              ③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발전원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포트폴리오 선택에 대한 투명성과 민주적 참여도 증대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IRP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수립 시 주요 요소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① 전력 수요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공급 적절성을 유지할 수 있는 자원 개발을 위한 다양한 시나리오를 검토해야 함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② 예상 부하의 변경 사항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데이터센터의 대규모 전력 부하 증가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운송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난방 분야 전기화 등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을 고려해야 함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③ 재생 에너지 활용 비중 의무화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 ’26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6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일까지 발전원의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25%,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연도별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3%p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씩 증가하여 ’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30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40%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도달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 ’31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~ ’45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계획된 재생에너지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발전원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부하의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100%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를 공급하기 위해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활용 권장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 ’45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일까지 모든 석탄 및 가스 발전 자원 폐기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☞ 급증하는 데이터 센터의 전력 수요 대응을 위한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PV/Wind +ESS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분산발전 확대 기대 및 수주 기회 확인 필요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487330"/>
                  </a:ext>
                </a:extLst>
              </a:tr>
            </a:tbl>
          </a:graphicData>
        </a:graphic>
      </p:graphicFrame>
      <p:sp>
        <p:nvSpPr>
          <p:cNvPr id="22" name="Text Box 2">
            <a:extLst>
              <a:ext uri="{FF2B5EF4-FFF2-40B4-BE49-F238E27FC236}">
                <a16:creationId xmlns:a16="http://schemas.microsoft.com/office/drawing/2014/main" id="{18AF6001-76CD-41D0-83FE-457CD8C48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64" y="76723"/>
            <a:ext cx="34163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’25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정책 동향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공통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(4/5)</a:t>
            </a:r>
            <a:endParaRPr kumimoji="0" lang="ko-KR" altLang="en-US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B72047A-DDEE-42E0-A36F-20D22A9C3CD8}"/>
              </a:ext>
            </a:extLst>
          </p:cNvPr>
          <p:cNvCxnSpPr>
            <a:cxnSpLocks/>
          </p:cNvCxnSpPr>
          <p:nvPr/>
        </p:nvCxnSpPr>
        <p:spPr>
          <a:xfrm>
            <a:off x="187626" y="434501"/>
            <a:ext cx="420547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45">
            <a:extLst>
              <a:ext uri="{FF2B5EF4-FFF2-40B4-BE49-F238E27FC236}">
                <a16:creationId xmlns:a16="http://schemas.microsoft.com/office/drawing/2014/main" id="{26A6C262-2335-42C0-A080-92FB3F5854DE}"/>
              </a:ext>
            </a:extLst>
          </p:cNvPr>
          <p:cNvSpPr/>
          <p:nvPr/>
        </p:nvSpPr>
        <p:spPr>
          <a:xfrm>
            <a:off x="6367172" y="5082995"/>
            <a:ext cx="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>
              <a:spcBef>
                <a:spcPts val="600"/>
              </a:spcBef>
              <a:defRPr/>
            </a:pP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굴림" panose="020B0600000101010101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04FAEB-05A6-44E5-805D-8AC7F357A88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078559" y="4138490"/>
          <a:ext cx="4622800" cy="62865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621767993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367826281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법안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의회 논의 현황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62996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SB 2473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2/7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법안 발의 및 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차 토론 → 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3/4 '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에너지 및 공공 서비스 위원회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 안건 할당됨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398969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HB 3779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2/7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법안 발의 → 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2/18 1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차 토론 → 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3/11 '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에너지 및 환경 위원회에 안건 할당됨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1522721"/>
                  </a:ext>
                </a:extLst>
              </a:tr>
            </a:tbl>
          </a:graphicData>
        </a:graphic>
      </p:graphicFrame>
      <p:sp>
        <p:nvSpPr>
          <p:cNvPr id="10" name="矩形 45">
            <a:extLst>
              <a:ext uri="{FF2B5EF4-FFF2-40B4-BE49-F238E27FC236}">
                <a16:creationId xmlns:a16="http://schemas.microsoft.com/office/drawing/2014/main" id="{2540CC7F-6B28-4EAD-9BDE-DBE03741E74F}"/>
              </a:ext>
            </a:extLst>
          </p:cNvPr>
          <p:cNvSpPr/>
          <p:nvPr/>
        </p:nvSpPr>
        <p:spPr>
          <a:xfrm>
            <a:off x="3078559" y="3897060"/>
            <a:ext cx="5745163" cy="13426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>
              <a:lnSpc>
                <a:spcPts val="1100"/>
              </a:lnSpc>
              <a:spcBef>
                <a:spcPts val="600"/>
              </a:spcBef>
              <a:defRPr/>
            </a:pP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※ </a:t>
            </a:r>
            <a:r>
              <a:rPr lang="ko-KR" altLang="en-US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일리노이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, '21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년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CEJA(Climate and Equitable Jobs Act)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에 근거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재생에너지 </a:t>
            </a:r>
            <a:r>
              <a:rPr lang="ko-KR" altLang="en-US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발전원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 비중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'30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년까지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40%, '40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년까지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50%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목표 수립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굴림" panose="020B0600000101010101" pitchFamily="50" charset="-127"/>
            </a:endParaRPr>
          </a:p>
        </p:txBody>
      </p:sp>
      <p:sp>
        <p:nvSpPr>
          <p:cNvPr id="11" name="矩形 45">
            <a:extLst>
              <a:ext uri="{FF2B5EF4-FFF2-40B4-BE49-F238E27FC236}">
                <a16:creationId xmlns:a16="http://schemas.microsoft.com/office/drawing/2014/main" id="{8AB7E950-BC56-4317-8B05-7233EA52133D}"/>
              </a:ext>
            </a:extLst>
          </p:cNvPr>
          <p:cNvSpPr/>
          <p:nvPr/>
        </p:nvSpPr>
        <p:spPr>
          <a:xfrm>
            <a:off x="5620792" y="1335948"/>
            <a:ext cx="1832233" cy="13439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>
              <a:lnSpc>
                <a:spcPts val="1100"/>
              </a:lnSpc>
              <a:spcBef>
                <a:spcPts val="600"/>
              </a:spcBef>
              <a:defRPr/>
            </a:pP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Integrated Resource Plan (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통합 자원 계획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663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7E95E5-85A1-47D0-91FF-4606B8EA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266606"/>
              </p:ext>
            </p:extLst>
          </p:nvPr>
        </p:nvGraphicFramePr>
        <p:xfrm>
          <a:off x="159097" y="524228"/>
          <a:ext cx="9612000" cy="2941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000">
                  <a:extLst>
                    <a:ext uri="{9D8B030D-6E8A-4147-A177-3AD203B41FA5}">
                      <a16:colId xmlns:a16="http://schemas.microsoft.com/office/drawing/2014/main" val="3202572236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022380490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922922696"/>
                    </a:ext>
                  </a:extLst>
                </a:gridCol>
                <a:gridCol w="6948000">
                  <a:extLst>
                    <a:ext uri="{9D8B030D-6E8A-4147-A177-3AD203B41FA5}">
                      <a16:colId xmlns:a16="http://schemas.microsoft.com/office/drawing/2014/main" val="1863784667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지역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3507"/>
                  </a:ext>
                </a:extLst>
              </a:tr>
              <a:tr h="263386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캘리포니아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BESS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화재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규제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BESS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캘리포니아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공공 서비스 위원회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(CPUC), BESS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시설 안전표준 설정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 비상계획 감독 강화를 위한 일반 명령</a:t>
                      </a:r>
                      <a:r>
                        <a:rPr lang="en-US" altLang="ko-KR" sz="1100" b="1" i="0" u="none" strike="noStrike" kern="1200" baseline="300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※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개정 승인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(3/13)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※ </a:t>
                      </a:r>
                      <a:r>
                        <a:rPr lang="en-US" altLang="ko-KR" sz="1100" b="0" u="sng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General Order 167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발전 시설의 유지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관리 및 운영 표준 명시 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상원 법안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건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SB 1383, SB 38)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에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정의된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발전 시설 대상을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BESS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까지 확장</a:t>
                      </a:r>
                      <a:endParaRPr lang="en-US" altLang="ko-KR" sz="1100" b="0" i="0" u="none" strike="noStrike" kern="1200" noProof="0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a) SB 1383 :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위원회 向 발전 시설 정전 기록 일 단위 제출 의무  </a:t>
                      </a:r>
                      <a:endParaRPr lang="en-US" altLang="ko-KR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b) SB 38 :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위원회 向 발전 시설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비상 대응 및 조치 계획서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제출 필요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(ex.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인력 교육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지방 당국과의 협력 등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해당 개정을 통한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CPUC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의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감사 기준 </a:t>
                      </a:r>
                      <a:r>
                        <a:rPr lang="ko-KR" altLang="en-US" sz="11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미충족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시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벌금 부과 및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소환장 발행 등 제재 조치</a:t>
                      </a:r>
                      <a:endParaRPr lang="en-US" altLang="ko-KR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ex) 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유지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관리 문서의 납기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작성 양식 </a:t>
                      </a:r>
                      <a:r>
                        <a:rPr lang="ko-KR" altLang="en-US" sz="1000" dirty="0" err="1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미준수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 시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위반 건당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$1,000 +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매일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$500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씩 추가 벌금 발생</a:t>
                      </a:r>
                      <a:endParaRPr lang="en-US" altLang="ko-KR" sz="1000" b="0" i="0" u="none" strike="noStrike" kern="1200" noProof="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cf.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최근 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CA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州 내 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Moss Landing(2025), </a:t>
                      </a:r>
                      <a:r>
                        <a:rPr lang="en-US" altLang="ko-KR" sz="1000" b="0" i="0" u="none" strike="noStrike" kern="1200" noProof="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Otay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Mesa(2024), Escondido(2024)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등 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BESS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시설 화재 다수 발생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☞ 州 정부의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BESS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시설 안전 규제 강화에 따라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상향 조정될 고객의 품질에 대한 니즈 충족 필요</a:t>
                      </a:r>
                      <a:endParaRPr lang="en-US" altLang="ko-KR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950609"/>
                  </a:ext>
                </a:extLst>
              </a:tr>
            </a:tbl>
          </a:graphicData>
        </a:graphic>
      </p:graphicFrame>
      <p:sp>
        <p:nvSpPr>
          <p:cNvPr id="22" name="Text Box 2">
            <a:extLst>
              <a:ext uri="{FF2B5EF4-FFF2-40B4-BE49-F238E27FC236}">
                <a16:creationId xmlns:a16="http://schemas.microsoft.com/office/drawing/2014/main" id="{18AF6001-76CD-41D0-83FE-457CD8C48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64" y="76723"/>
            <a:ext cx="34163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’25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정책 동향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공통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(5/5)</a:t>
            </a:r>
            <a:endParaRPr kumimoji="0" lang="ko-KR" altLang="en-US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B72047A-DDEE-42E0-A36F-20D22A9C3CD8}"/>
              </a:ext>
            </a:extLst>
          </p:cNvPr>
          <p:cNvCxnSpPr>
            <a:cxnSpLocks/>
          </p:cNvCxnSpPr>
          <p:nvPr/>
        </p:nvCxnSpPr>
        <p:spPr>
          <a:xfrm>
            <a:off x="187626" y="434501"/>
            <a:ext cx="420547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24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7E95E5-85A1-47D0-91FF-4606B8EA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912605"/>
              </p:ext>
            </p:extLst>
          </p:nvPr>
        </p:nvGraphicFramePr>
        <p:xfrm>
          <a:off x="159097" y="524228"/>
          <a:ext cx="9612000" cy="394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000">
                  <a:extLst>
                    <a:ext uri="{9D8B030D-6E8A-4147-A177-3AD203B41FA5}">
                      <a16:colId xmlns:a16="http://schemas.microsoft.com/office/drawing/2014/main" val="3202572236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022380490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922922696"/>
                    </a:ext>
                  </a:extLst>
                </a:gridCol>
                <a:gridCol w="6948000">
                  <a:extLst>
                    <a:ext uri="{9D8B030D-6E8A-4147-A177-3AD203B41FA5}">
                      <a16:colId xmlns:a16="http://schemas.microsoft.com/office/drawing/2014/main" val="1863784667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지역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3507"/>
                  </a:ext>
                </a:extLst>
              </a:tr>
              <a:tr h="295421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캘리포니아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VPP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활성화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BESS,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VPP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가상발전소</a:t>
                      </a: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endParaRPr lang="en-US" altLang="ko-KR" sz="11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CA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州 민주당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州 에너지정책 수립기관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(CEC)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의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‘VPP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설치 전략 수립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전력 시장 영향도 연구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의무화 정책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(AB 740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발의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(2/18)</a:t>
                      </a:r>
                      <a:endParaRPr lang="en-US" altLang="ko-KR" sz="1100" b="1" i="0" u="none" strike="noStrike" kern="1200" noProof="0" dirty="0"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법안 목적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가정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기업에 존재하는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VPP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자원의 ①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현황 추적 ②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설치 계획 수립 의무화로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VPP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공급자의 전력 시장 참여 유도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 VPP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활용으로 타 지역 대비 지나치게 높은 州의 가계 및 </a:t>
                      </a:r>
                      <a:r>
                        <a:rPr lang="ko-KR" altLang="en-US" sz="1100" b="0" kern="120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상업용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고객의 전력 비용 감축</a:t>
                      </a:r>
                      <a:b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※ CA 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州 </a:t>
                      </a:r>
                      <a:r>
                        <a:rPr lang="ko-KR" altLang="en-US" sz="1000" dirty="0" err="1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주택용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/</a:t>
                      </a:r>
                      <a:r>
                        <a:rPr lang="ko-KR" altLang="en-US" sz="1000" dirty="0" err="1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상업용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 전력 가격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美 전국 평균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배 수준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PG&amp;E, 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투자자 유치 목적으로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CPUC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向 전력 요금 인상 요청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(3/20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일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: VPP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시장 활성화를 위한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CEC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의무 활동 추가</a:t>
                      </a:r>
                      <a:endParaRPr lang="en-US" altLang="ko-KR" sz="11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1) CEC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의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통합 에너지 정책 보고서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(IEPR)’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안건인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중장기 에너지 공급 계획 시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VPP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대규모 설치 전략 추가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(’26.11.01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전까지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2) (’30 / ’35 / ’45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기준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VPP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설치에 따른 송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배전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발전 비용 인하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전력 요금 인하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온실가스 배출 감소 영향 연구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</a:t>
                      </a:r>
                      <a:b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연구 완료 후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30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 이내 의회에 연구 결과 보고 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(’26.07.01 </a:t>
                      </a:r>
                      <a:r>
                        <a:rPr lang="ko-KR" altLang="en-US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전까지</a:t>
                      </a:r>
                      <a:r>
                        <a:rPr lang="en-US" altLang="ko-KR" sz="1100" b="0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※ CEC 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의무 활동 관련 기 제정된 법률 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(SB 846, '22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승인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 2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주기의 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'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통합 에너지 정책 보고서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(IEPR)' 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발행 의무화 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안건 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州 주요 에너지 추세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당면 이슈 평가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정책 권장 사항 제공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 CPUC 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 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ISO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 협의하여 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'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순 최대 전력 수요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'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를 줄이기 위한 부하 이동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(load shifting)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목표 채택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IEPR </a:t>
                      </a:r>
                      <a:r>
                        <a:rPr lang="ko-KR" altLang="en-US" sz="1100" b="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발행 시 목표 조정</a:t>
                      </a:r>
                      <a:endParaRPr lang="en-US" altLang="ko-KR" sz="1100" b="0" kern="1200" noProof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☞ 州 의회의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VPP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지원 법안 발의에 따른 실질적인 시장 성장 모니터링 및 사업 기회 확인 필요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69300"/>
                  </a:ext>
                </a:extLst>
              </a:tr>
            </a:tbl>
          </a:graphicData>
        </a:graphic>
      </p:graphicFrame>
      <p:sp>
        <p:nvSpPr>
          <p:cNvPr id="22" name="Text Box 2">
            <a:extLst>
              <a:ext uri="{FF2B5EF4-FFF2-40B4-BE49-F238E27FC236}">
                <a16:creationId xmlns:a16="http://schemas.microsoft.com/office/drawing/2014/main" id="{18AF6001-76CD-41D0-83FE-457CD8C48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64" y="76723"/>
            <a:ext cx="34163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SzTx/>
              <a:defRPr/>
            </a:pP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’25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정책 동향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BTM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(1/2)</a:t>
            </a:r>
            <a:endParaRPr kumimoji="0" lang="ko-KR" altLang="en-US" sz="1800" b="0" baseline="300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B72047A-DDEE-42E0-A36F-20D22A9C3CD8}"/>
              </a:ext>
            </a:extLst>
          </p:cNvPr>
          <p:cNvCxnSpPr>
            <a:cxnSpLocks/>
          </p:cNvCxnSpPr>
          <p:nvPr/>
        </p:nvCxnSpPr>
        <p:spPr>
          <a:xfrm>
            <a:off x="187626" y="434501"/>
            <a:ext cx="420547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45">
            <a:extLst>
              <a:ext uri="{FF2B5EF4-FFF2-40B4-BE49-F238E27FC236}">
                <a16:creationId xmlns:a16="http://schemas.microsoft.com/office/drawing/2014/main" id="{8022E3BE-73DD-425E-9107-B17A88D1171E}"/>
              </a:ext>
            </a:extLst>
          </p:cNvPr>
          <p:cNvSpPr/>
          <p:nvPr/>
        </p:nvSpPr>
        <p:spPr>
          <a:xfrm>
            <a:off x="4393096" y="1034814"/>
            <a:ext cx="1275990" cy="1315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>
              <a:lnSpc>
                <a:spcPts val="1100"/>
              </a:lnSpc>
              <a:spcBef>
                <a:spcPts val="600"/>
              </a:spcBef>
              <a:defRPr/>
            </a:pP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California Energy Commission</a:t>
            </a:r>
          </a:p>
        </p:txBody>
      </p:sp>
      <p:sp>
        <p:nvSpPr>
          <p:cNvPr id="7" name="矩形 45">
            <a:extLst>
              <a:ext uri="{FF2B5EF4-FFF2-40B4-BE49-F238E27FC236}">
                <a16:creationId xmlns:a16="http://schemas.microsoft.com/office/drawing/2014/main" id="{5104A1C3-32D6-4C34-89EF-0B0BF5C501D0}"/>
              </a:ext>
            </a:extLst>
          </p:cNvPr>
          <p:cNvSpPr/>
          <p:nvPr/>
        </p:nvSpPr>
        <p:spPr>
          <a:xfrm>
            <a:off x="4437081" y="3969051"/>
            <a:ext cx="1133324" cy="1315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>
              <a:lnSpc>
                <a:spcPts val="1100"/>
              </a:lnSpc>
              <a:spcBef>
                <a:spcPts val="600"/>
              </a:spcBef>
              <a:defRPr/>
            </a:pP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net peak electrical demand</a:t>
            </a:r>
          </a:p>
        </p:txBody>
      </p:sp>
      <p:sp>
        <p:nvSpPr>
          <p:cNvPr id="10" name="矩形 45">
            <a:extLst>
              <a:ext uri="{FF2B5EF4-FFF2-40B4-BE49-F238E27FC236}">
                <a16:creationId xmlns:a16="http://schemas.microsoft.com/office/drawing/2014/main" id="{D1CB5C50-1A96-4FC6-A8CC-CB7F72DA50AA}"/>
              </a:ext>
            </a:extLst>
          </p:cNvPr>
          <p:cNvSpPr/>
          <p:nvPr/>
        </p:nvSpPr>
        <p:spPr>
          <a:xfrm>
            <a:off x="3884493" y="2598011"/>
            <a:ext cx="1343316" cy="1315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>
              <a:lnSpc>
                <a:spcPts val="1100"/>
              </a:lnSpc>
              <a:spcBef>
                <a:spcPts val="600"/>
              </a:spcBef>
              <a:defRPr/>
            </a:pP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Integrated Energy Policy Report</a:t>
            </a:r>
          </a:p>
        </p:txBody>
      </p:sp>
    </p:spTree>
    <p:extLst>
      <p:ext uri="{BB962C8B-B14F-4D97-AF65-F5344CB8AC3E}">
        <p14:creationId xmlns:p14="http://schemas.microsoft.com/office/powerpoint/2010/main" val="29565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7E95E5-85A1-47D0-91FF-4606B8EA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759897"/>
              </p:ext>
            </p:extLst>
          </p:nvPr>
        </p:nvGraphicFramePr>
        <p:xfrm>
          <a:off x="159097" y="524228"/>
          <a:ext cx="9612000" cy="3803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000">
                  <a:extLst>
                    <a:ext uri="{9D8B030D-6E8A-4147-A177-3AD203B41FA5}">
                      <a16:colId xmlns:a16="http://schemas.microsoft.com/office/drawing/2014/main" val="3202572236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022380490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922922696"/>
                    </a:ext>
                  </a:extLst>
                </a:gridCol>
                <a:gridCol w="6948000">
                  <a:extLst>
                    <a:ext uri="{9D8B030D-6E8A-4147-A177-3AD203B41FA5}">
                      <a16:colId xmlns:a16="http://schemas.microsoft.com/office/drawing/2014/main" val="1863784667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지역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3507"/>
                  </a:ext>
                </a:extLst>
              </a:tr>
              <a:tr h="28534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IRA</a:t>
                      </a: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ITC / PTC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신재생</a:t>
                      </a: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ESS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 재무부와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IRS, ’25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년부터 적용되는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IRA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Section 45Y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청정 에너지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PTC)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48E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청정 에너지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ITC) Final Rule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발표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(1/7)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 ’24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 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6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발표된 세부 지침인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Proposed Rule (June 9, 2023)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채택을 기반함 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(’24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월간 정책 내 기 공유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’25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일부터 발효</a:t>
                      </a:r>
                      <a:endParaRPr lang="en-US" altLang="ko-KR" sz="105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ESS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관련 주요 내용</a:t>
                      </a:r>
                      <a:endParaRPr lang="en-US" altLang="ko-KR" sz="105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1. Hybrid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System(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적격 시설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+ ESS)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의 경우 단일 프로젝트로 볼 수 있는 근거가 없으며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단일 프로젝트로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credit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공제 신청 불가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50" b="0" i="0" u="sng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50" b="0" i="0" u="sng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서로 개별 프로젝트로 간주되어</a:t>
                      </a:r>
                      <a:r>
                        <a:rPr lang="en-US" altLang="ko-KR" sz="1050" b="0" i="0" u="sng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</a:t>
                      </a:r>
                      <a:r>
                        <a:rPr lang="ko-KR" altLang="en-US" sz="1050" b="0" i="0" u="sng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각각 개별 프로젝트로서 </a:t>
                      </a:r>
                      <a:r>
                        <a:rPr lang="en-US" altLang="ko-KR" sz="1050" b="0" i="0" u="sng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ITC </a:t>
                      </a:r>
                      <a:r>
                        <a:rPr lang="ko-KR" altLang="en-US" sz="1050" b="0" i="0" u="sng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신청해야 함</a:t>
                      </a:r>
                      <a:endParaRPr lang="en-US" altLang="ko-KR" sz="1050" b="0" i="0" u="sng" strike="noStrike" kern="120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: ’25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년부터 설치되는 프로젝트는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S.48E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에 따라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PV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자산과 별도 고려</a:t>
                      </a:r>
                      <a:r>
                        <a:rPr lang="en-US" altLang="ko-KR" sz="1050" b="0" i="0" u="sng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ESS </a:t>
                      </a:r>
                      <a:r>
                        <a:rPr lang="ko-KR" altLang="en-US" sz="1050" b="0" i="0" u="sng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자산만 </a:t>
                      </a:r>
                      <a:r>
                        <a:rPr lang="en-US" altLang="ko-KR" sz="1050" b="0" i="0" u="sng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DCR </a:t>
                      </a:r>
                      <a:r>
                        <a:rPr lang="ko-KR" altLang="en-US" sz="1050" b="0" i="0" u="sng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만족 시 </a:t>
                      </a:r>
                      <a:r>
                        <a:rPr lang="en-US" altLang="ko-KR" sz="1050" b="0" i="0" u="sng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  <a:r>
                        <a:rPr lang="ko-KR" altLang="en-US" sz="1050" b="0" i="0" u="sng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자산에 대한 </a:t>
                      </a:r>
                      <a:r>
                        <a:rPr lang="en-US" altLang="ko-KR" sz="1050" b="0" i="0" u="sng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ITC </a:t>
                      </a:r>
                      <a:r>
                        <a:rPr lang="ko-KR" altLang="en-US" sz="1050" b="0" i="0" u="sng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수혜 가능 </a:t>
                      </a:r>
                      <a:r>
                        <a:rPr lang="en-US" altLang="ko-KR" sz="1050" b="0" i="0" u="sng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cf.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’25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이전 착공 프로젝트는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S.48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에 따라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Hybrid System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을 단일 프로젝트로 볼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 있음</a:t>
                      </a:r>
                      <a:endParaRPr lang="en-US" altLang="ko-KR" sz="1050" b="0" i="0" u="none" strike="noStrike" kern="1200" noProof="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2.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ITC DCR Threshold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준용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조항 명확화</a:t>
                      </a:r>
                      <a:endParaRPr lang="en-US" altLang="ko-KR" sz="105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: DCR Threshold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가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40%(’24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→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55%(’27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증가하는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45Y(PTC)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 구분됨을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언급하여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ko-KR" sz="1050" b="0" i="0" u="sng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ITC DCR</a:t>
                      </a:r>
                      <a:r>
                        <a:rPr lang="ko-KR" altLang="en-US" sz="1050" b="0" i="0" u="sng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은 </a:t>
                      </a:r>
                      <a:r>
                        <a:rPr lang="en-US" altLang="ko-KR" sz="1050" b="0" i="0" u="sng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40% </a:t>
                      </a:r>
                      <a:r>
                        <a:rPr lang="ko-KR" altLang="en-US" sz="1050" b="0" i="0" u="sng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고정으로 해석 필요</a:t>
                      </a:r>
                      <a:endParaRPr lang="en-US" altLang="ko-KR" sz="1050" b="0" i="0" u="sng" strike="noStrike" kern="120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i="0" u="sng" strike="noStrike" kern="120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☞ 최종 세부 사항이 법제화되었으나</a:t>
                      </a:r>
                      <a:r>
                        <a:rPr lang="en-US" altLang="ko-KR" sz="105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05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트럼프 행정부 下 행정명령 및</a:t>
                      </a:r>
                      <a:r>
                        <a:rPr lang="en-US" altLang="ko-KR" sz="105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5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의회 </a:t>
                      </a:r>
                      <a:r>
                        <a:rPr lang="ko-KR" altLang="en-US" sz="1050" b="1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검토법</a:t>
                      </a:r>
                      <a:r>
                        <a:rPr lang="ko-KR" altLang="en-US" sz="105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등을 통해 자금 지원 규모 및 세부 조항에 </a:t>
                      </a:r>
                      <a:endParaRPr lang="en-US" altLang="ko-KR" sz="105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</a:t>
                      </a:r>
                      <a:r>
                        <a:rPr lang="ko-KR" altLang="en-US" sz="105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대해 변경 가능성 존재하여 지속 모니터링 필요</a:t>
                      </a:r>
                      <a:endParaRPr lang="en-US" altLang="ko-KR" sz="105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84206"/>
                  </a:ext>
                </a:extLst>
              </a:tr>
            </a:tbl>
          </a:graphicData>
        </a:graphic>
      </p:graphicFrame>
      <p:sp>
        <p:nvSpPr>
          <p:cNvPr id="22" name="Text Box 2">
            <a:extLst>
              <a:ext uri="{FF2B5EF4-FFF2-40B4-BE49-F238E27FC236}">
                <a16:creationId xmlns:a16="http://schemas.microsoft.com/office/drawing/2014/main" id="{18AF6001-76CD-41D0-83FE-457CD8C48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64" y="76723"/>
            <a:ext cx="46185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’24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12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~ ’25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정책 동향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공통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(1/4)</a:t>
            </a:r>
            <a:endParaRPr kumimoji="0" lang="ko-KR" altLang="en-US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B72047A-DDEE-42E0-A36F-20D22A9C3CD8}"/>
              </a:ext>
            </a:extLst>
          </p:cNvPr>
          <p:cNvCxnSpPr>
            <a:cxnSpLocks/>
          </p:cNvCxnSpPr>
          <p:nvPr/>
        </p:nvCxnSpPr>
        <p:spPr>
          <a:xfrm>
            <a:off x="187626" y="434501"/>
            <a:ext cx="420547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F405666-0FD5-4F20-A210-569E769E1D37}"/>
              </a:ext>
            </a:extLst>
          </p:cNvPr>
          <p:cNvSpPr txBox="1"/>
          <p:nvPr/>
        </p:nvSpPr>
        <p:spPr>
          <a:xfrm>
            <a:off x="3928768" y="1776708"/>
            <a:ext cx="23695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┌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Qualified Facility : PV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및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Wind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등 발전 자산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176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7E95E5-85A1-47D0-91FF-4606B8EA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226607"/>
              </p:ext>
            </p:extLst>
          </p:nvPr>
        </p:nvGraphicFramePr>
        <p:xfrm>
          <a:off x="159097" y="524228"/>
          <a:ext cx="9612000" cy="3459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000">
                  <a:extLst>
                    <a:ext uri="{9D8B030D-6E8A-4147-A177-3AD203B41FA5}">
                      <a16:colId xmlns:a16="http://schemas.microsoft.com/office/drawing/2014/main" val="3202572236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022380490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922922696"/>
                    </a:ext>
                  </a:extLst>
                </a:gridCol>
                <a:gridCol w="6948000">
                  <a:extLst>
                    <a:ext uri="{9D8B030D-6E8A-4147-A177-3AD203B41FA5}">
                      <a16:colId xmlns:a16="http://schemas.microsoft.com/office/drawing/2014/main" val="1863784667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지역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3507"/>
                  </a:ext>
                </a:extLst>
              </a:tr>
              <a:tr h="28534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보조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참조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IRA</a:t>
                      </a: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ITC / PTC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신재생</a:t>
                      </a: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ESS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 재무부와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IRS,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IRA DCR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추가 </a:t>
                      </a:r>
                      <a:r>
                        <a:rPr lang="ko-KR" altLang="en-US" sz="1100" b="1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가이던스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(2025-08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발표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(1/16)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※ Final Rule(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발표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일자 미정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 아닌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Additional Guidance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로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신 행정부에서 특정 절차 없이 수정 가능</a:t>
                      </a:r>
                      <a:endParaRPr lang="en-US" altLang="ko-KR" sz="1050" b="0" i="0" u="none" strike="noStrike" kern="1200" noProof="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발표한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16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일부터 발효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다음 </a:t>
                      </a:r>
                      <a:r>
                        <a:rPr lang="ko-KR" altLang="en-US" sz="1050" b="0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가이던스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발표 후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90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 이내 착공하는 프로젝트에 대해 유효</a:t>
                      </a:r>
                      <a:endParaRPr lang="en-US" altLang="ko-KR" sz="105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업데이트 사항</a:t>
                      </a:r>
                      <a:endParaRPr lang="en-US" altLang="ko-KR" sz="105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1. Solar, Wind, BESS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등의 </a:t>
                      </a:r>
                      <a:r>
                        <a:rPr lang="en-US" altLang="ko-KR" sz="1050" b="0" i="0" u="sng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Safe Harbor Table </a:t>
                      </a:r>
                      <a:r>
                        <a:rPr lang="ko-KR" altLang="en-US" sz="1050" b="0" i="0" u="sng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업데이트</a:t>
                      </a:r>
                      <a:endParaRPr lang="en-US" altLang="ko-KR" sz="1050" b="0" i="0" u="sng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1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BESS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비중 상향 조정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1050" b="0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전력망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기존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38%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52%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분산형  기존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18.1%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→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26.9%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2) TMS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BMS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의 항목 이동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ⓐ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TMS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기존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배터리 팩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→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인버터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’(TMS for Inverter)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및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배터리 컨테이너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하우징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’(TMS for Battery Container / Housing)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으로 이동</a:t>
                      </a:r>
                      <a:endParaRPr lang="en-US" altLang="ko-KR" sz="105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ⓑ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BMS :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기존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‘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배터리 팩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→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배터리 컨테이너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하우징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으로 이동</a:t>
                      </a:r>
                      <a:endParaRPr lang="en-US" altLang="ko-KR" sz="105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2. APC / MPC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별 </a:t>
                      </a:r>
                      <a:r>
                        <a:rPr lang="ko-KR" altLang="en-US" sz="1050" b="0" i="0" u="sng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정의 명확화</a:t>
                      </a:r>
                      <a:r>
                        <a:rPr lang="en-US" altLang="ko-KR" sz="1050" b="0" i="0" u="sng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50" b="0" i="0" u="sng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altLang="ko-KR" sz="1050" b="0" i="0" u="sng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※ FEOC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 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Sub Component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언급은 없어 기존과 동일하게 하위 부품 원산지는 무관하며</a:t>
                      </a:r>
                      <a: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b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altLang="ko-KR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추가 </a:t>
                      </a:r>
                      <a:r>
                        <a:rPr lang="ko-KR" altLang="en-US" sz="1050" b="0" i="0" u="none" strike="noStrike" kern="1200" noProof="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가이던스</a:t>
                      </a:r>
                      <a:r>
                        <a:rPr lang="ko-KR" altLang="en-US" sz="105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지속 모니터링 필요 </a:t>
                      </a:r>
                      <a:endParaRPr lang="en-US" altLang="ko-KR" sz="1050" b="0" i="0" u="none" strike="noStrike" kern="1200" noProof="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84206"/>
                  </a:ext>
                </a:extLst>
              </a:tr>
            </a:tbl>
          </a:graphicData>
        </a:graphic>
      </p:graphicFrame>
      <p:sp>
        <p:nvSpPr>
          <p:cNvPr id="22" name="Text Box 2">
            <a:extLst>
              <a:ext uri="{FF2B5EF4-FFF2-40B4-BE49-F238E27FC236}">
                <a16:creationId xmlns:a16="http://schemas.microsoft.com/office/drawing/2014/main" id="{18AF6001-76CD-41D0-83FE-457CD8C48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64" y="76723"/>
            <a:ext cx="45656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’24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12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~ ’25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정책 동향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공통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(2/4)</a:t>
            </a:r>
            <a:endParaRPr kumimoji="0" lang="ko-KR" altLang="en-US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B72047A-DDEE-42E0-A36F-20D22A9C3CD8}"/>
              </a:ext>
            </a:extLst>
          </p:cNvPr>
          <p:cNvCxnSpPr>
            <a:cxnSpLocks/>
          </p:cNvCxnSpPr>
          <p:nvPr/>
        </p:nvCxnSpPr>
        <p:spPr>
          <a:xfrm>
            <a:off x="187626" y="434501"/>
            <a:ext cx="420547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644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7E95E5-85A1-47D0-91FF-4606B8EA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196898"/>
              </p:ext>
            </p:extLst>
          </p:nvPr>
        </p:nvGraphicFramePr>
        <p:xfrm>
          <a:off x="159097" y="524228"/>
          <a:ext cx="9612000" cy="4095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000">
                  <a:extLst>
                    <a:ext uri="{9D8B030D-6E8A-4147-A177-3AD203B41FA5}">
                      <a16:colId xmlns:a16="http://schemas.microsoft.com/office/drawing/2014/main" val="3202572236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022380490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922922696"/>
                    </a:ext>
                  </a:extLst>
                </a:gridCol>
                <a:gridCol w="6948000">
                  <a:extLst>
                    <a:ext uri="{9D8B030D-6E8A-4147-A177-3AD203B41FA5}">
                      <a16:colId xmlns:a16="http://schemas.microsoft.com/office/drawing/2014/main" val="1863784667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지역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3507"/>
                  </a:ext>
                </a:extLst>
              </a:tr>
              <a:tr h="28534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일리노이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Target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 </a:t>
                      </a:r>
                      <a:r>
                        <a:rPr lang="ko-KR" altLang="en-US" sz="1100" b="1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일리노이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州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’50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100%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신재생 전환</a:t>
                      </a:r>
                      <a:r>
                        <a:rPr lang="en-US" altLang="ko-KR" sz="1100" b="1" i="0" u="none" strike="noStrike" kern="1200" baseline="300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※</a:t>
                      </a:r>
                      <a:r>
                        <a:rPr lang="ko-KR" altLang="en-US" sz="1100" b="1" i="0" u="none" strike="noStrike" kern="1200" baseline="300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달성을 위하여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8.5GW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설치를 목표로 하는 법안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HB5856,SB3959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주의회 심의 진행  </a:t>
                      </a:r>
                      <a:endParaRPr lang="en-US" altLang="ko-KR" sz="11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※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신재생 법안인 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DEJA(Climate and Equitable Jobs Act, ’21.09)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를 통해 목표 제시</a:t>
                      </a:r>
                      <a:endParaRPr lang="en-US" altLang="ko-KR" sz="11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’24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24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 발의 → 보류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(8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→ </a:t>
                      </a:r>
                      <a:r>
                        <a:rPr lang="ko-KR" altLang="en-US" sz="1100" b="0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일리노이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민주당 재 발의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(9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→ 주의회 심의 진행 중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목적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전력망의 현대화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BESS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Roof-top PV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를 포함한 소규모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분산 에너지 자원 장려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1) </a:t>
                      </a:r>
                      <a:r>
                        <a:rPr lang="ko-KR" altLang="en-US" sz="1100" b="0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전력망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연결 프로세스 개정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승인 절차의 간소화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 투명성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예측 가능성 향상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2) ’50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8.5GW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설치 목표 제시 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· FTM : (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운송일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’24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1GW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→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’26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3GW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→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’28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5GW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→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’30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7.5GW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조달 목표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· BTM : ESS 1GW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조달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계획은 추후 발표 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3) BTM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부터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FTM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까지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전방위 기술 지원 및 개발 확대를 위한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PV / Wind + ESS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생태계 구축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4) BTM ESS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인센티브 프로그램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5) VPP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활성화를 위한 생태계 구축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☞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설치 목표 달성 위한 정부 주도의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Tender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BTM ESS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인센티브 프로그램 현황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모니터링하여 신규 사업 기회 확인 필요</a:t>
                      </a:r>
                      <a:endParaRPr lang="en-US" altLang="ko-KR" sz="11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84206"/>
                  </a:ext>
                </a:extLst>
              </a:tr>
            </a:tbl>
          </a:graphicData>
        </a:graphic>
      </p:graphicFrame>
      <p:sp>
        <p:nvSpPr>
          <p:cNvPr id="22" name="Text Box 2">
            <a:extLst>
              <a:ext uri="{FF2B5EF4-FFF2-40B4-BE49-F238E27FC236}">
                <a16:creationId xmlns:a16="http://schemas.microsoft.com/office/drawing/2014/main" id="{18AF6001-76CD-41D0-83FE-457CD8C48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64" y="76723"/>
            <a:ext cx="3511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’24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11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정책 동향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</a:t>
            </a:r>
            <a:r>
              <a:rPr kumimoji="0" lang="ko-KR" altLang="en-US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공통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(1/4)</a:t>
            </a:r>
            <a:endParaRPr kumimoji="0" lang="ko-KR" altLang="en-US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B72047A-DDEE-42E0-A36F-20D22A9C3CD8}"/>
              </a:ext>
            </a:extLst>
          </p:cNvPr>
          <p:cNvCxnSpPr>
            <a:cxnSpLocks/>
          </p:cNvCxnSpPr>
          <p:nvPr/>
        </p:nvCxnSpPr>
        <p:spPr>
          <a:xfrm>
            <a:off x="187626" y="434501"/>
            <a:ext cx="324137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686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7E95E5-85A1-47D0-91FF-4606B8EA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879310"/>
              </p:ext>
            </p:extLst>
          </p:nvPr>
        </p:nvGraphicFramePr>
        <p:xfrm>
          <a:off x="159097" y="524230"/>
          <a:ext cx="9612000" cy="5278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000">
                  <a:extLst>
                    <a:ext uri="{9D8B030D-6E8A-4147-A177-3AD203B41FA5}">
                      <a16:colId xmlns:a16="http://schemas.microsoft.com/office/drawing/2014/main" val="3202572236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022380490"/>
                    </a:ext>
                  </a:extLst>
                </a:gridCol>
                <a:gridCol w="712853">
                  <a:extLst>
                    <a:ext uri="{9D8B030D-6E8A-4147-A177-3AD203B41FA5}">
                      <a16:colId xmlns:a16="http://schemas.microsoft.com/office/drawing/2014/main" val="2922922696"/>
                    </a:ext>
                  </a:extLst>
                </a:gridCol>
                <a:gridCol w="7123147">
                  <a:extLst>
                    <a:ext uri="{9D8B030D-6E8A-4147-A177-3AD203B41FA5}">
                      <a16:colId xmlns:a16="http://schemas.microsoft.com/office/drawing/2014/main" val="1863784667"/>
                    </a:ext>
                  </a:extLst>
                </a:gridCol>
              </a:tblGrid>
              <a:tr h="2942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지역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정책 </a:t>
                      </a: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3507"/>
                  </a:ext>
                </a:extLst>
              </a:tr>
              <a:tr h="100273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매사추세츠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buFontTx/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S.2967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  <a:spcBef>
                          <a:spcPts val="600"/>
                        </a:spcBef>
                        <a:buFontTx/>
                        <a:buNone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  <a:r>
                        <a:rPr lang="ko-KR" altLang="en-US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 청정에너지 등</a:t>
                      </a:r>
                      <a:endParaRPr lang="en-US" altLang="ko-KR" sz="11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매사추세츠</a:t>
                      </a:r>
                      <a:r>
                        <a:rPr lang="en-US" altLang="ko-KR" sz="1100" b="1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청정에너지 프로젝트 위치 선정 및 허가 절차를 간소화하고 </a:t>
                      </a:r>
                      <a:r>
                        <a:rPr lang="en-US" altLang="ko-KR" sz="1100" b="1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 촉진하는 </a:t>
                      </a:r>
                      <a:r>
                        <a:rPr lang="en-US" altLang="ko-KR" sz="1100" b="1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S.2967</a:t>
                      </a:r>
                      <a:r>
                        <a:rPr lang="en-US" altLang="ko-KR" sz="1100" b="1" u="none" strike="noStrike" baseline="30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※</a:t>
                      </a:r>
                      <a:r>
                        <a:rPr lang="en-US" altLang="ko-KR" sz="1100" b="1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법안 하원 통과 </a:t>
                      </a:r>
                      <a:r>
                        <a:rPr lang="en-US" altLang="ko-KR" sz="1100" b="1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(11/14)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S.2967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Promoting a clean energy grid, advancing equity and protecting ratepayers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」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ESS 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촉진 내용 및 청정에너지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PJT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입지선정 및 허가 절차 간소화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핵융합 에너지 촉진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해상 풍력 발전 허용 기간 확장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EV 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충전소 네트워크 개선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주민 전기요금 상승 보호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AMI(Advanced Metering Infrastructure) 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구현 </a:t>
                      </a:r>
                      <a:r>
                        <a:rPr lang="en-US" altLang="ko-KR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건물 탈탄소화 등 포함</a:t>
                      </a:r>
                      <a:endParaRPr lang="en-US" altLang="ko-KR" sz="400" b="1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일정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법안 상원 통과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(10/24) →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하원 통과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(11/14) →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주지사 서명 절차 필요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ESS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촉진 관련 주요내용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① </a:t>
                      </a:r>
                      <a:r>
                        <a:rPr lang="ko-KR" altLang="en-US" sz="11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배전사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5,000MW ESS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계약 지시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· ESS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경쟁적 모집 및 ’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31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일까지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총 약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5GW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계약을 체결할 것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3.5GW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는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mid-duration (4~10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시간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으로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’27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일까지 조달 완료 필요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나머지는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long-duration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(10~24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또는 비용 효율적인 경우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multi-day duration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으로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’30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일까지 조달 필요 </a:t>
                      </a:r>
                      <a:endParaRPr lang="en-US" altLang="ko-KR" sz="11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② Small Clean Energy Storage Facility (100MWh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미만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허가 절차 간소화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·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통합 소규모 청정 에너지 인프라 시설 허가 신청을 통해 모든 허가 및 승인을 통합한 단일 허가 절차 진행 가능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지방 정부는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개월 내 건설에 필요한 모든 허가에 대한 결정을 완료해야 함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③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배전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송전용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인센티브 마련 가능성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·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배전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송전사는 배전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송전 자원으로 사용되는 첨단 송전 기술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그리드 강화 기술 혹은 </a:t>
                      </a:r>
                      <a:endParaRPr lang="en-US" altLang="ko-KR" sz="1100" b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ESS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 비용 효율적인 배치에 대한 재정적 인센티브를 제공하는 성과 인센티브 메커니즘 제안 가능</a:t>
                      </a:r>
                      <a:endParaRPr lang="en-US" altLang="ko-KR" sz="1100" b="1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ko-KR" altLang="en-US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cf. </a:t>
                      </a:r>
                      <a:r>
                        <a:rPr lang="ko-KR" altLang="en-US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매사추세츠</a:t>
                      </a:r>
                      <a:r>
                        <a:rPr lang="en-US" altLang="ko-KR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’30</a:t>
                      </a:r>
                      <a:r>
                        <a:rPr lang="ko-KR" altLang="en-US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재생에너지 발전 </a:t>
                      </a:r>
                      <a:r>
                        <a:rPr lang="en-US" altLang="ko-KR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40% (’23</a:t>
                      </a:r>
                      <a:r>
                        <a:rPr lang="ko-KR" altLang="en-US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12% </a:t>
                      </a:r>
                      <a:r>
                        <a:rPr lang="ko-KR" altLang="en-US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수준</a:t>
                      </a:r>
                      <a:r>
                        <a:rPr lang="en-US" altLang="ko-KR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en-US" altLang="ko-KR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’50</a:t>
                      </a:r>
                      <a:r>
                        <a:rPr lang="ko-KR" altLang="en-US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Net-Zero </a:t>
                      </a:r>
                      <a:r>
                        <a:rPr lang="ko-KR" altLang="en-US" sz="11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altLang="en-US" sz="1100" b="1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419350" algn="l"/>
                        </a:tabLst>
                        <a:defRPr/>
                      </a:pP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☞ 해당 법안을 통해 매사추세츠 내 재생에너지 및 </a:t>
                      </a:r>
                      <a:r>
                        <a:rPr lang="en-US" altLang="ko-KR" sz="1100" b="1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 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 활성화 전망</a:t>
                      </a:r>
                      <a:endParaRPr lang="en-US" altLang="ko-KR" sz="1100" b="1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542219"/>
                  </a:ext>
                </a:extLst>
              </a:tr>
            </a:tbl>
          </a:graphicData>
        </a:graphic>
      </p:graphicFrame>
      <p:sp>
        <p:nvSpPr>
          <p:cNvPr id="22" name="Text Box 2">
            <a:extLst>
              <a:ext uri="{FF2B5EF4-FFF2-40B4-BE49-F238E27FC236}">
                <a16:creationId xmlns:a16="http://schemas.microsoft.com/office/drawing/2014/main" id="{18AF6001-76CD-41D0-83FE-457CD8C48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64" y="76723"/>
            <a:ext cx="34957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’24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kumimoji="0" lang="en-US" altLang="ko-KR" sz="1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11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정책 동향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FTM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(2/2)</a:t>
            </a:r>
            <a:endParaRPr kumimoji="0" lang="ko-KR" altLang="en-US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B72047A-DDEE-42E0-A36F-20D22A9C3CD8}"/>
              </a:ext>
            </a:extLst>
          </p:cNvPr>
          <p:cNvCxnSpPr>
            <a:cxnSpLocks/>
          </p:cNvCxnSpPr>
          <p:nvPr/>
        </p:nvCxnSpPr>
        <p:spPr>
          <a:xfrm>
            <a:off x="187626" y="434501"/>
            <a:ext cx="324137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219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7E95E5-85A1-47D0-91FF-4606B8EA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151454"/>
              </p:ext>
            </p:extLst>
          </p:nvPr>
        </p:nvGraphicFramePr>
        <p:xfrm>
          <a:off x="159097" y="524227"/>
          <a:ext cx="9612000" cy="4527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000">
                  <a:extLst>
                    <a:ext uri="{9D8B030D-6E8A-4147-A177-3AD203B41FA5}">
                      <a16:colId xmlns:a16="http://schemas.microsoft.com/office/drawing/2014/main" val="3202572236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022380490"/>
                    </a:ext>
                  </a:extLst>
                </a:gridCol>
                <a:gridCol w="888000">
                  <a:extLst>
                    <a:ext uri="{9D8B030D-6E8A-4147-A177-3AD203B41FA5}">
                      <a16:colId xmlns:a16="http://schemas.microsoft.com/office/drawing/2014/main" val="2922922696"/>
                    </a:ext>
                  </a:extLst>
                </a:gridCol>
                <a:gridCol w="6948000">
                  <a:extLst>
                    <a:ext uri="{9D8B030D-6E8A-4147-A177-3AD203B41FA5}">
                      <a16:colId xmlns:a16="http://schemas.microsoft.com/office/drawing/2014/main" val="1863784667"/>
                    </a:ext>
                  </a:extLst>
                </a:gridCol>
              </a:tblGrid>
              <a:tr h="2994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지역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내용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3507"/>
                  </a:ext>
                </a:extLst>
              </a:tr>
              <a:tr h="175890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로드아일랜드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SB2499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HB7811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</a:t>
                      </a:r>
                      <a:endParaRPr lang="ko-KR" altLang="en-US" sz="11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로드아일랜드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’33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년까지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600MW ESS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확보를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목표로 하는 법안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‘2024 Energy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Storage Systems Act’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통과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(6/26)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ESS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설치의무화 법안 발표한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13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번째 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州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*, ’26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90MW, ’28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195MW, ’33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년까지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600MW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설치 목표함</a:t>
                      </a:r>
                      <a:b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*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발표만 하고 통과 이전인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뉴멕시코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제외 시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번째 주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 내용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ESS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의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배전단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결선을 위한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Tariff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신설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/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송전망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결선용 저장장치는 피크수요 대응 가능한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LDES, SDES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필수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로드아일랜드 투자은행 참여한 전 용도의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채택 활성화를 위한 프로그램 개발 </a:t>
                      </a:r>
                      <a:b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 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저소득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주택용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상업용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고객을 위한 프로그램 개발 검토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☞ 뉴욕주와 함께 미 동부 지역 과제 개발 동향 지속 점검 필요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34681"/>
                  </a:ext>
                </a:extLst>
              </a:tr>
              <a:tr h="175890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미국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해외 적대국 배터리 조달 차단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법안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</a:t>
                      </a:r>
                      <a:endParaRPr lang="ko-KR" altLang="en-US" sz="11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美 공화당 하원의원 주도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美 국토안보부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(DHS)</a:t>
                      </a:r>
                      <a:r>
                        <a:rPr lang="ko-KR" alt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의 중국 배터리 조달 금지 법안 발의 </a:t>
                      </a:r>
                      <a: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(6/7) </a:t>
                      </a:r>
                      <a:br>
                        <a:rPr lang="en-US" altLang="ko-KR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(“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해외 적대국 배터리 의존 </a:t>
                      </a:r>
                      <a:r>
                        <a:rPr lang="ko-KR" altLang="en-US" sz="1100" b="0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분리법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” Decoupling from Foreign Adversarial Battery Dependence Act)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목적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경제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안보 취약점 악용 방지 및 주요 공급망에 대한 지배력 상실을 방지하기 위함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법안 내용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’27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일부터 국토안보부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(DHS)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의 자금을 사용한 조달과제에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DHS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에서 지정한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6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개의 중국 배터리 업체의 제품을 사용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구매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할 수 없음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대상 업체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CATL, BYD, </a:t>
                      </a:r>
                      <a:r>
                        <a:rPr lang="en-US" altLang="ko-KR" sz="1100" b="0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Gotion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Envision, EVE, </a:t>
                      </a:r>
                      <a:r>
                        <a:rPr lang="en-US" altLang="ko-KR" sz="1100" b="0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Hithium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의 배터리 혹은 이들 업체의 부품을 활용한 제품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Cf. ’27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년부터 美 국방부의 공공 조달 시 중국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6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社 배터리 구매를 금지하는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“2024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국방수권법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(NDAA)”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통과된 바 있음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☞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국토안보부의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조달과제에 국한하여 중국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개사 배터리 사용을 금지하고 있으나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b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관세 정책 등 미국 시장 전반적으로 중국 배터리의 의존도를 낮추는 추세에 따라 향후 정책 동향 지속 모니터링 필요</a:t>
                      </a:r>
                      <a:endParaRPr lang="en-US" altLang="ko-KR" sz="11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776712"/>
                  </a:ext>
                </a:extLst>
              </a:tr>
            </a:tbl>
          </a:graphicData>
        </a:graphic>
      </p:graphicFrame>
      <p:sp>
        <p:nvSpPr>
          <p:cNvPr id="22" name="Text Box 2">
            <a:extLst>
              <a:ext uri="{FF2B5EF4-FFF2-40B4-BE49-F238E27FC236}">
                <a16:creationId xmlns:a16="http://schemas.microsoft.com/office/drawing/2014/main" id="{18AF6001-76CD-41D0-83FE-457CD8C48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64" y="76723"/>
            <a:ext cx="34163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pitchFamily="34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SzTx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’24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6</a:t>
            </a:r>
            <a:r>
              <a:rPr kumimoji="0" lang="ko-KR" altLang="en-US" sz="18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ESS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정책 동향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공통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(1/2)</a:t>
            </a:r>
            <a:endParaRPr kumimoji="0" lang="ko-KR" altLang="en-US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B72047A-DDEE-42E0-A36F-20D22A9C3CD8}"/>
              </a:ext>
            </a:extLst>
          </p:cNvPr>
          <p:cNvCxnSpPr>
            <a:cxnSpLocks/>
          </p:cNvCxnSpPr>
          <p:nvPr/>
        </p:nvCxnSpPr>
        <p:spPr>
          <a:xfrm>
            <a:off x="187626" y="434501"/>
            <a:ext cx="324137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A7F7CF8-27F9-4FB2-A2CD-7FAC09E1EA18}"/>
              </a:ext>
            </a:extLst>
          </p:cNvPr>
          <p:cNvSpPr/>
          <p:nvPr/>
        </p:nvSpPr>
        <p:spPr>
          <a:xfrm>
            <a:off x="4558669" y="3689134"/>
            <a:ext cx="266130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국가 안보에 위험을 초래하지 않는다고 판단되면 면제 가능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11811E-E1F2-4322-B280-74A3319D0BB4}"/>
              </a:ext>
            </a:extLst>
          </p:cNvPr>
          <p:cNvSpPr/>
          <p:nvPr/>
        </p:nvSpPr>
        <p:spPr>
          <a:xfrm>
            <a:off x="4983759" y="4395142"/>
            <a:ext cx="94288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위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업체와 동일</a:t>
            </a:r>
          </a:p>
        </p:txBody>
      </p:sp>
    </p:spTree>
    <p:extLst>
      <p:ext uri="{BB962C8B-B14F-4D97-AF65-F5344CB8AC3E}">
        <p14:creationId xmlns:p14="http://schemas.microsoft.com/office/powerpoint/2010/main" val="1882911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4215</Words>
  <Application>Microsoft Office PowerPoint</Application>
  <PresentationFormat>A4 용지(210x297mm)</PresentationFormat>
  <Paragraphs>413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LG스마트체 Regular</vt:lpstr>
      <vt:lpstr>굴림</vt:lpstr>
      <vt:lpstr>맑은 고딕</vt:lpstr>
      <vt:lpstr>Arial</vt:lpstr>
      <vt:lpstr>Arial Narrow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황재윤(JAEYUN HWANG)[jaeyun0331]/책임/ESS.사업전략.MI전략팀</dc:creator>
  <cp:lastModifiedBy>황재윤(JAEYUN HWANG)[jaeyun0331]/책임/ESS.사업전략.MI전략팀</cp:lastModifiedBy>
  <cp:revision>3</cp:revision>
  <dcterms:created xsi:type="dcterms:W3CDTF">2025-05-21T01:01:49Z</dcterms:created>
  <dcterms:modified xsi:type="dcterms:W3CDTF">2025-05-21T01:36:11Z</dcterms:modified>
</cp:coreProperties>
</file>